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4.xml.rels" ContentType="application/vnd.openxmlformats-package.relationships+xml"/>
  <Override PartName="/ppt/slides/_rels/slide47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46.xml.rels" ContentType="application/vnd.openxmlformats-package.relationships+xml"/>
  <Override PartName="/ppt/slides/_rels/slide30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29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43.xml.rels" ContentType="application/vnd.openxmlformats-package.relationships+xml"/>
  <Override PartName="/ppt/slides/_rels/slide2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4.xml" ContentType="application/vnd.openxmlformats-officedocument.presentationml.slide+xml"/>
  <Override PartName="/ppt/slides/slide4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58D978E-608B-4E08-A790-362649C5AFC7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ED3B370-C535-40C5-99A3-E021C21CC461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2DC39B6-DE8A-487B-BAD4-07189E7F99CC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9A64339-59CA-4D53-80DE-7B1D0D30A8F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23F0633-3617-4FF7-A156-6D550DC5EC7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729360" y="572040"/>
            <a:ext cx="7688520" cy="248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8B0E4A5-604F-4754-B207-4D6E15C841FE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D0F3F7A-9D44-478E-8B8D-5E0512C2CFD3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D4A1D69-F7B6-4FC6-8A67-D54B2983409E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2185AC0-F100-45AF-9A05-44A24B4C7B82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CBF53AC-538E-4A45-BF27-B550C1D252F2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AA73153-826F-4A4A-9CF1-9565E7D1C548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32892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92848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72936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32892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592848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68841DB-A3EE-43DF-97E4-F89C319ED4E5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8CA9EE-8C07-496E-8BFF-9609680F94CD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2C8D83-11A2-40E7-A778-9BDBB65E441B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BE5904-C166-4674-B10D-5485E9DD0399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1FD1DE-AC90-4B37-913A-C6B3D00AE1F4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31179B-FA8B-4B28-8054-79FAD9311339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729360" y="572040"/>
            <a:ext cx="7688520" cy="248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227CCB-B553-4C14-B31F-ACB8487A78D7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6F3608-E8EC-46B9-BA87-83DC57D7551B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9D0C80-CD2B-47A8-9467-EF6B92A0F40C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AE22D3-850D-4384-AA81-1FDC1C85BFAA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D124E9-0C0F-43A7-BEBC-F36BDA8E4709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A033CA-9E27-42E5-BC6E-FAFED2F4CE89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32892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592848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72936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32892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592848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7FD2BB-2841-4541-ABD5-34E842E64F91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5C0601-84A1-4010-BAE1-C922CAE6B76C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5ADA30-45EB-4811-AD88-D2C89FBE9129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D3F4F1-3D6E-4509-9F2B-A117ACE9C7B5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1D0D28-21BE-45FB-B2FA-70E3C300DF94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D6A23C-FD6C-4D7C-82C3-1B844548B4EB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729360" y="572040"/>
            <a:ext cx="7688520" cy="248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B98BA5-AA52-4806-A8CC-0501C5440546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B563BD-4090-4A76-B975-3F7C7486F4C5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891118-5A12-47C2-BF50-F741708E9D96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B81349-EFF7-4071-A10A-0056390033DA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EE9E7E-8359-4D10-B3D4-A721564DFC1F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D3373A-5E36-4353-A50C-426F253FDD45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32892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592848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72936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32892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592848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B6B6AF-DA0B-4D59-8641-B8B0B6A33357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435DB14-7BA3-4867-A1D1-E15267C09BC6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28763F2-B7DE-4254-9E1F-E7DDC32CC2A4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36CCC5B-1A5F-47E1-B20D-D2F57865D48B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5F5DFC3-1C6F-45F0-BADC-8B66C0A8241D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B108652-2470-4766-892E-B456708DFE7E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729360" y="572040"/>
            <a:ext cx="7688520" cy="248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B9C3D2C-0521-4F69-8873-5152CEAD75F5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D04E9E3-612B-4FED-9D16-BC505A4CBDA1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86D3483-015B-43A9-B103-503CE95D9D6D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C8D319D-EAC5-481C-9165-5D9B42B29288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E905797-0BE1-45CD-BE13-9C15C5755C93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AB0FA2F-4537-4065-A1A4-D9D763EC5DA6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332892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592848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72936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332892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592848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28A41EE-0EE7-4751-80A2-A125289B720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1;p2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2;p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" name="Google Shape;13;p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4;p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85FFA5-9B81-4938-82A3-153A163C600E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Google Shape;18;p2"/>
          <p:cNvSpPr/>
          <p:nvPr/>
        </p:nvSpPr>
        <p:spPr>
          <a:xfrm>
            <a:off x="6590880" y="3867120"/>
            <a:ext cx="194508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21;p3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5" name="Google Shape;22;p3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23;p3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BCF8F3-990D-4876-810D-74CFE339DBE0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27;p4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" name="Google Shape;28;p4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88" name="Google Shape;29;p4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30;p4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21FCCE-2346-413A-A34B-58608AE7309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43;p6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l" sz="1400" spc="-1" strike="noStrike">
                <a:solidFill>
                  <a:schemeClr val="lt1"/>
                </a:solidFill>
                <a:latin typeface="Arial"/>
                <a:ea typeface="Arial"/>
              </a:rPr>
              <a:t>Heads up!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oogle Shape;44;p6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31" name="Google Shape;45;p6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Google Shape;46;p6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EAC2F6-4DE1-48D0-B25E-9D35A70E88A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commons.wikimedia.org/w/index.php?curid=228623" TargetMode="External"/><Relationship Id="rId3" Type="http://schemas.openxmlformats.org/officeDocument/2006/relationships/slideLayout" Target="../slideLayouts/slideLayout2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7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hyperlink" Target="https://realpython.com/python-thinking-recursively/" TargetMode="External"/><Relationship Id="rId2" Type="http://schemas.openxmlformats.org/officeDocument/2006/relationships/slideLayout" Target="../slideLayouts/slideLayout27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hyperlink" Target="https://python-course.eu/advanced-python/recursive-functions.php" TargetMode="External"/><Relationship Id="rId2" Type="http://schemas.openxmlformats.org/officeDocument/2006/relationships/slideLayout" Target="../slideLayouts/slideLayout27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hyperlink" Target="https://forms.gle/YU1mjxjBjBf8hyvH7" TargetMode="External"/><Relationship Id="rId3" Type="http://schemas.openxmlformats.org/officeDocument/2006/relationships/slideLayout" Target="../slideLayouts/slideLayout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4200" spc="-1" strike="noStrike">
                <a:solidFill>
                  <a:schemeClr val="dk2"/>
                </a:solidFill>
                <a:latin typeface="Lato"/>
                <a:ea typeface="Lato"/>
              </a:rPr>
              <a:t>Programming</a:t>
            </a:r>
            <a:br>
              <a:rPr sz="4200"/>
            </a:br>
            <a:r>
              <a:rPr b="0" lang="el" sz="2200" spc="-1" strike="noStrike">
                <a:solidFill>
                  <a:schemeClr val="accent1"/>
                </a:solidFill>
                <a:latin typeface="Lato"/>
                <a:ea typeface="Lato"/>
              </a:rPr>
              <a:t>Recursion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ubTitle"/>
          </p:nvPr>
        </p:nvSpPr>
        <p:spPr>
          <a:xfrm>
            <a:off x="729720" y="3173040"/>
            <a:ext cx="7687800" cy="738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Markos Vassilis, Mediterranean College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118;p16"/>
          <p:cNvSpPr/>
          <p:nvPr/>
        </p:nvSpPr>
        <p:spPr>
          <a:xfrm>
            <a:off x="6029640" y="4001400"/>
            <a:ext cx="238752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ubTitle"/>
          </p:nvPr>
        </p:nvSpPr>
        <p:spPr>
          <a:xfrm>
            <a:off x="6057000" y="3821760"/>
            <a:ext cx="2360520" cy="1121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algn="r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Week 11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A Crash Course on Recursion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B7EC9E-2ADB-4108-8462-994338241CDF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What Will This Print?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foo(n):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== 0: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True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== 1: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False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not foo(n - 1)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print({x: foo(x) for x in range(10)})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F26448-C79B-4320-B96B-1CC2F22F2DD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Expected Output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{0: True, 1: False, 2: True, 3: False, 4: True, 5: False, 6: True, 7: False, 8: True, 9: False}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Why is that?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explain how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foo()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works?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can we actually call a function from within its own definition? Why does this even terminate?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what we call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Function Recursion!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04B53B-519E-48A1-A70A-1D134122F3B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Recursion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Recursion has (at least) two stages: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base case, in which recursion terminates (e.g., the if condition in our previous example).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recursive case(s), in which we call the function itself with different arguments.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Every loop can be implemented using recursion.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Recursion includes only function calls and some if statements.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if all these function calls are to immutable functions (or functions with no side effects), and;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since if statements can be written in an immutable manner;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then, recursion provides a way to represent loops immutably.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ADD660-04D9-46AF-B400-809DB3780F6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Recursive Sums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534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following Python function computes the sum of a list’s elements (numbers):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simple_sum(numbers):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 = 0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x in numbers: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 += x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__name__ == "__main__":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numbers = [5, 0, 3 ,-2]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print(simple_sum(numbers))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602EFB-8314-4C17-80D1-A13ED7F7DDE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" dur="indefinite" restart="never" nodeType="tmRoot">
          <p:childTnLst>
            <p:seq>
              <p:cTn id="58" dur="indefinite" nodeType="mainSeq">
                <p:childTnLst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Recursive Sums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about recursion?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rec_sum(numbers):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len(numbers) == 0: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0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numbers[0] + rec_sum(numbers[1:])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Essentially, we just sum the elements of the list one by one, resolving to the base case of returning 0 whenever the list is empty.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61628C-4807-4016-B251-D6EACF763BE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1" dur="indefinite" restart="never" nodeType="tmRoot">
          <p:childTnLst>
            <p:seq>
              <p:cTn id="72" dur="indefinite" nodeType="mainSeq">
                <p:childTnLst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Product of Numbers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recursive function that accepts a list and computes the product of its elements.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rec_prod(numbers):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len(numbers) == 0: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numbers[0] * rec_sum(numbers[1:])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A77A43-209E-44D5-B1D6-437038C9B30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5" dur="indefinite" restart="never" nodeType="tmRoot">
          <p:childTnLst>
            <p:seq>
              <p:cTn id="86" dur="indefinite" nodeType="mainSeq">
                <p:childTnLst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Recursive Power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Python Recursive function that accepts two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integer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arguments, a and b, and computes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to the power of b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(a ** b):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rec_power(a, b):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b == 0: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a * rec_power(a, b - 1)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__name__ == "__main__":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print(rec_power(4, 3))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647672-3E03-4D6B-AC5F-D238FC06ACE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5" dur="indefinite" restart="never" nodeType="tmRoot">
          <p:childTnLst>
            <p:seq>
              <p:cTn id="96" dur="indefinite" nodeType="mainSeq">
                <p:childTnLst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Towers of Hanoi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a classic puzzle involving three towers (pegs) and a set of disks of different sizes. The objective is to move all the disks from one peg to another, following these rules: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Only one disk can be moved at a time.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larger disk cannot be placed on top of a smaller one.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702066-DC0D-4990-86EB-5A871AD9EA7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202" name="Google Shape;182;p25"/>
          <p:cNvGrpSpPr/>
          <p:nvPr/>
        </p:nvGrpSpPr>
        <p:grpSpPr>
          <a:xfrm>
            <a:off x="2242080" y="3123000"/>
            <a:ext cx="4659120" cy="1780920"/>
            <a:chOff x="2242080" y="3123000"/>
            <a:chExt cx="4659120" cy="1780920"/>
          </a:xfrm>
        </p:grpSpPr>
        <p:pic>
          <p:nvPicPr>
            <p:cNvPr id="203" name="Google Shape;183;p25" descr=""/>
            <p:cNvPicPr/>
            <p:nvPr/>
          </p:nvPicPr>
          <p:blipFill>
            <a:blip r:embed="rId1"/>
            <a:stretch/>
          </p:blipFill>
          <p:spPr>
            <a:xfrm>
              <a:off x="2895840" y="3123000"/>
              <a:ext cx="3351960" cy="1475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4" name="Google Shape;184;p25"/>
            <p:cNvSpPr/>
            <p:nvPr/>
          </p:nvSpPr>
          <p:spPr>
            <a:xfrm>
              <a:off x="2242080" y="4598640"/>
              <a:ext cx="4659120" cy="30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6680" bIns="7668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000" spc="-1" strike="noStrike">
                  <a:solidFill>
                    <a:schemeClr val="accent1"/>
                  </a:solidFill>
                  <a:latin typeface="Arial"/>
                  <a:ea typeface="Arial"/>
                </a:rPr>
                <a:t>CC BY-SA 3.0, </a:t>
              </a:r>
              <a:r>
                <a:rPr b="0" lang="el" sz="1000" spc="-1" strike="noStrike" u="sng">
                  <a:solidFill>
                    <a:schemeClr val="hlink"/>
                  </a:solidFill>
                  <a:uFillTx/>
                  <a:latin typeface="Arial"/>
                  <a:ea typeface="Arial"/>
                  <a:hlinkClick r:id="rId2"/>
                </a:rPr>
                <a:t>https://commons.wikimedia.org/w/index.php?curid=228623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9" dur="indefinite" restart="never" nodeType="tmRoot">
          <p:childTnLst>
            <p:seq>
              <p:cTn id="110" dur="indefinite" nodeType="mainSeq">
                <p:childTnLst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 Line of Attack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(name the pegs A, B, C, right to left):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n = 1 disk you just need to move that one disk from A to 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n = 2 disks you first move disk 1 from A to B, then disk 2 from A to C and then disk 1 from B to 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essentially moving disk 1 to B and then solving the problem for n-1 (=1) twice.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n = 3 disks you first solve the n = 2 case by moving disks 1 and 2 to B, then move disk 3 to C and solve again the n = 2 case by moving disks 1 and 2 to C, on top of disk 3.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BE12E4-6E0A-4469-935C-07D4A9633A9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1" dur="indefinite" restart="never" nodeType="tmRoot">
          <p:childTnLst>
            <p:seq>
              <p:cTn id="132" dur="indefinite" nodeType="mainSeq">
                <p:childTnLst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 Line of Attack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n = 4 disks you: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First move disks 1, 2, 3 to B, solving the n = 3 case.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Then move disk 4 to 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Then move disks 1, 2, 3 to C, solving again the n = 3 case.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n = 5 disks you: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First move disks 1, 2, 3, 4 to B, solving the n = 4 case.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Then move disk 5 to 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Then move disks 1, 2, 3, 4 to C, solving again the n = 4 case.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see a pattern here?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5224E9-F6C8-42DE-8F8A-753F5FFC9E2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3" dur="indefinite" restart="never" nodeType="tmRoot">
          <p:childTnLst>
            <p:seq>
              <p:cTn id="154" dur="indefinite" nodeType="mainSeq">
                <p:childTnLst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 Line of Attack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general, in order to solve the problem for any n: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First move the first n - 1 disks from A to B (the auxiliary peg).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Then move disk n to the target peg, 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Then move the first n - 1 disks from B to 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above has a clearly recursive structure, as while solving the case for n we have to solve the case for n - 1.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D91DB6-96EF-4026-9622-7BC785E9879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1" dur="indefinite" restart="never" nodeType="tmRoot">
          <p:childTnLst>
            <p:seq>
              <p:cTn id="192" dur="indefinite" nodeType="mainSeq"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Recursion of Hanoi?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a recursive function that solve the Towers of Hanoi problem?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tower_of_hanoi(n, source, destination, auxiliary):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== 1: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print(f"Move disk 1 from {source} to {destination}")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tower_of_hanoi(n-1, source, auxiliary, destination)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print(f"Move disk {n} from {source} to {destination}")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tower_of_hanoi(n-1, auxiliary, destination, source)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__name__ == "__main__":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tower_of_hanoi(3, "A", "C", "B")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B1D58C-ECA1-43C1-8DA7-FA4B7AF9E31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3" dur="indefinite" restart="never" nodeType="tmRoot">
          <p:childTnLst>
            <p:seq>
              <p:cTn id="214" dur="indefinite" nodeType="mainSeq">
                <p:childTnLst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Complexity of Hanoi Towers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compute the computational complexity class, in terms of Big-O notation for the above function?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n disks we need to solve the case for n-1 twice and make an additional computation each time.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Thus, if f(n) is the time complexity of this function, the following holds: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f(n) = f(n-1) + 1 + f(n-1) or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f(n) = 2f(n-1) + 1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what is f(n)?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5822DC-A2F6-419F-A462-8FD9EDA2D35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7" dur="indefinite" restart="never" nodeType="tmRoot">
          <p:childTnLst>
            <p:seq>
              <p:cTn id="228" dur="indefinite" nodeType="mainSeq">
                <p:childTnLst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Complexity of Hanoi Towers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9000"/>
          </a:bodyPr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Since f(1) = 1 (we need one move to solve the n = 1 case) we can easily compute: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f(2) = 2f(1) + 1 =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f(3) = 2f(2) + 1 = 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f(4) = 2f(3) + 1 = 15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f(5) = 2f(4) + 1 = 31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f(6) = 2f(5) + 1 = 63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f(7) = 2f(6) + 1 = 127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guess f(n)?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f(n) = 2^n - 1 (can you prove it formally using induction?)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C60DD7-1D26-4DAE-88CA-ABF75A77EB6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9" dur="indefinite" restart="never" nodeType="tmRoot">
          <p:childTnLst>
            <p:seq>
              <p:cTn id="250" dur="indefinite" nodeType="mainSeq">
                <p:childTnLst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Fibonacci Numbers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Fibonacci numbers are defined by the following relationship: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f(n) = f(n-1) + f(n-2),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where f(0) = 0 and f(1) = 1.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Thus, the first Fibonacci numbers are: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0, 1, 1, 2, 3, 5, 8, 13, 21, 34, 55, 89, 144, 233, 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can we compute the n-th Fibonacci number?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2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0D533A-CAF0-40AF-9178-95FAF94056B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7" dur="indefinite" restart="never" nodeType="tmRoot">
          <p:childTnLst>
            <p:seq>
              <p:cTn id="288" dur="indefinite" nodeType="mainSeq">
                <p:childTnLst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 Piece of Cake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462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Well, this is some more or less evident chance to flex our recursion muscle: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== 0: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0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 n == 1: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fib(n - 1) + fib(n - 2)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__name__ == "__main__":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print([fib(n) for n in range(0,20)])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2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947B81-66C0-4EB9-A957-D803B29E113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3" dur="indefinite" restart="never" nodeType="tmRoot">
          <p:childTnLst>
            <p:seq>
              <p:cTn id="314" dur="indefinite" nodeType="mainSeq">
                <p:childTnLst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Large Fibonacci Numbers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9000"/>
          </a:bodyPr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Which is the 35th President of the US?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John Fitzgerald Kennedy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Which is the 35th Fibonacci number?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Use our freshly developed machinery to find out!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Which is the 36th Fibonacci number?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Which is the 37th Fibonacci number?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Which is the 40th Fibonacci number?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Which is the 50th Fibonacci number?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Which is the 100th Fibonacci number?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has gone wrong here?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2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492CAE-1E78-4AB7-B352-087694D8A60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7" dur="indefinite" restart="never" nodeType="tmRoot">
          <p:childTnLst>
            <p:seq>
              <p:cTn id="328" dur="indefinite" nodeType="mainSeq">
                <p:childTnLst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Recursion-acci!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sldNum" idx="2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3BAFE9-2364-407E-91D1-EF0EE9BC7EC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Google Shape;254;p35"/>
          <p:cNvSpPr/>
          <p:nvPr/>
        </p:nvSpPr>
        <p:spPr>
          <a:xfrm>
            <a:off x="326520" y="2729880"/>
            <a:ext cx="694080" cy="3200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fib(6)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255;p35"/>
          <p:cNvSpPr/>
          <p:nvPr/>
        </p:nvSpPr>
        <p:spPr>
          <a:xfrm>
            <a:off x="1476360" y="208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fib(5)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256;p35"/>
          <p:cNvSpPr/>
          <p:nvPr/>
        </p:nvSpPr>
        <p:spPr>
          <a:xfrm>
            <a:off x="1476360" y="3377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fib(4)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Google Shape;257;p35"/>
          <p:cNvSpPr/>
          <p:nvPr/>
        </p:nvSpPr>
        <p:spPr>
          <a:xfrm>
            <a:off x="2570400" y="145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fib(4)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258;p35"/>
          <p:cNvSpPr/>
          <p:nvPr/>
        </p:nvSpPr>
        <p:spPr>
          <a:xfrm>
            <a:off x="2570400" y="208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Google Shape;259;p35"/>
          <p:cNvSpPr/>
          <p:nvPr/>
        </p:nvSpPr>
        <p:spPr>
          <a:xfrm>
            <a:off x="2570400" y="3377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Google Shape;260;p35"/>
          <p:cNvSpPr/>
          <p:nvPr/>
        </p:nvSpPr>
        <p:spPr>
          <a:xfrm>
            <a:off x="2570400" y="39938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Google Shape;261;p35"/>
          <p:cNvSpPr/>
          <p:nvPr/>
        </p:nvSpPr>
        <p:spPr>
          <a:xfrm>
            <a:off x="3699000" y="39938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Google Shape;262;p35"/>
          <p:cNvSpPr/>
          <p:nvPr/>
        </p:nvSpPr>
        <p:spPr>
          <a:xfrm>
            <a:off x="3699000" y="437472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Google Shape;263;p35"/>
          <p:cNvSpPr/>
          <p:nvPr/>
        </p:nvSpPr>
        <p:spPr>
          <a:xfrm>
            <a:off x="3699000" y="3377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Google Shape;264;p35"/>
          <p:cNvSpPr/>
          <p:nvPr/>
        </p:nvSpPr>
        <p:spPr>
          <a:xfrm>
            <a:off x="3699000" y="29764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Google Shape;265;p35"/>
          <p:cNvSpPr/>
          <p:nvPr/>
        </p:nvSpPr>
        <p:spPr>
          <a:xfrm>
            <a:off x="3699000" y="208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266;p35"/>
          <p:cNvSpPr/>
          <p:nvPr/>
        </p:nvSpPr>
        <p:spPr>
          <a:xfrm>
            <a:off x="3699000" y="247392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267;p35"/>
          <p:cNvSpPr/>
          <p:nvPr/>
        </p:nvSpPr>
        <p:spPr>
          <a:xfrm>
            <a:off x="3699000" y="145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Google Shape;268;p35"/>
          <p:cNvSpPr/>
          <p:nvPr/>
        </p:nvSpPr>
        <p:spPr>
          <a:xfrm>
            <a:off x="3699000" y="107856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269;p35"/>
          <p:cNvSpPr/>
          <p:nvPr/>
        </p:nvSpPr>
        <p:spPr>
          <a:xfrm>
            <a:off x="4875840" y="339552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Google Shape;270;p35"/>
          <p:cNvSpPr/>
          <p:nvPr/>
        </p:nvSpPr>
        <p:spPr>
          <a:xfrm>
            <a:off x="4875840" y="37972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oogle Shape;271;p35"/>
          <p:cNvSpPr/>
          <p:nvPr/>
        </p:nvSpPr>
        <p:spPr>
          <a:xfrm>
            <a:off x="4875840" y="25016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Google Shape;272;p35"/>
          <p:cNvSpPr/>
          <p:nvPr/>
        </p:nvSpPr>
        <p:spPr>
          <a:xfrm>
            <a:off x="4875840" y="29030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Google Shape;273;p35"/>
          <p:cNvSpPr/>
          <p:nvPr/>
        </p:nvSpPr>
        <p:spPr>
          <a:xfrm>
            <a:off x="4875840" y="145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Google Shape;274;p35"/>
          <p:cNvSpPr/>
          <p:nvPr/>
        </p:nvSpPr>
        <p:spPr>
          <a:xfrm>
            <a:off x="4875840" y="185400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Google Shape;275;p35"/>
          <p:cNvSpPr/>
          <p:nvPr/>
        </p:nvSpPr>
        <p:spPr>
          <a:xfrm>
            <a:off x="4875840" y="704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Google Shape;276;p35"/>
          <p:cNvSpPr/>
          <p:nvPr/>
        </p:nvSpPr>
        <p:spPr>
          <a:xfrm>
            <a:off x="4875840" y="107856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Google Shape;277;p35"/>
          <p:cNvSpPr/>
          <p:nvPr/>
        </p:nvSpPr>
        <p:spPr>
          <a:xfrm>
            <a:off x="5969880" y="704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Google Shape;278;p35"/>
          <p:cNvSpPr/>
          <p:nvPr/>
        </p:nvSpPr>
        <p:spPr>
          <a:xfrm>
            <a:off x="5969880" y="107856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9" name="Google Shape;279;p35"/>
          <p:cNvCxnSpPr/>
          <p:nvPr/>
        </p:nvCxnSpPr>
        <p:spPr>
          <a:xfrm flipV="1">
            <a:off x="975960" y="2422800"/>
            <a:ext cx="519480" cy="2980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60" name="Google Shape;280;p35"/>
          <p:cNvCxnSpPr/>
          <p:nvPr/>
        </p:nvCxnSpPr>
        <p:spPr>
          <a:xfrm>
            <a:off x="975960" y="3059640"/>
            <a:ext cx="519480" cy="2980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61" name="Google Shape;281;p35"/>
          <p:cNvCxnSpPr/>
          <p:nvPr/>
        </p:nvCxnSpPr>
        <p:spPr>
          <a:xfrm flipV="1">
            <a:off x="2173680" y="1792800"/>
            <a:ext cx="477720" cy="3049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62" name="Google Shape;282;p35"/>
          <p:cNvCxnSpPr/>
          <p:nvPr/>
        </p:nvCxnSpPr>
        <p:spPr>
          <a:xfrm>
            <a:off x="2092680" y="3697920"/>
            <a:ext cx="477720" cy="3049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63" name="Google Shape;283;p35"/>
          <p:cNvCxnSpPr>
            <a:stCxn id="235" idx="3"/>
            <a:endCxn id="238" idx="1"/>
          </p:cNvCxnSpPr>
          <p:nvPr/>
        </p:nvCxnSpPr>
        <p:spPr>
          <a:xfrm>
            <a:off x="2170800" y="2242440"/>
            <a:ext cx="39960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64" name="Google Shape;284;p35"/>
          <p:cNvCxnSpPr>
            <a:stCxn id="236" idx="3"/>
            <a:endCxn id="239" idx="1"/>
          </p:cNvCxnSpPr>
          <p:nvPr/>
        </p:nvCxnSpPr>
        <p:spPr>
          <a:xfrm>
            <a:off x="2170800" y="3537720"/>
            <a:ext cx="39960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65" name="Google Shape;285;p35"/>
          <p:cNvCxnSpPr>
            <a:stCxn id="238" idx="3"/>
            <a:endCxn id="245" idx="1"/>
          </p:cNvCxnSpPr>
          <p:nvPr/>
        </p:nvCxnSpPr>
        <p:spPr>
          <a:xfrm>
            <a:off x="3264840" y="2242440"/>
            <a:ext cx="43416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66" name="Google Shape;286;p35"/>
          <p:cNvCxnSpPr>
            <a:stCxn id="239" idx="3"/>
            <a:endCxn id="243" idx="1"/>
          </p:cNvCxnSpPr>
          <p:nvPr/>
        </p:nvCxnSpPr>
        <p:spPr>
          <a:xfrm>
            <a:off x="3264840" y="3537720"/>
            <a:ext cx="43416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67" name="Google Shape;287;p35"/>
          <p:cNvCxnSpPr>
            <a:stCxn id="237" idx="3"/>
            <a:endCxn id="247" idx="1"/>
          </p:cNvCxnSpPr>
          <p:nvPr/>
        </p:nvCxnSpPr>
        <p:spPr>
          <a:xfrm>
            <a:off x="3264840" y="1612440"/>
            <a:ext cx="43416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68" name="Google Shape;288;p35"/>
          <p:cNvCxnSpPr>
            <a:stCxn id="240" idx="3"/>
            <a:endCxn id="241" idx="1"/>
          </p:cNvCxnSpPr>
          <p:nvPr/>
        </p:nvCxnSpPr>
        <p:spPr>
          <a:xfrm>
            <a:off x="3264840" y="4154040"/>
            <a:ext cx="43416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69" name="Google Shape;289;p35"/>
          <p:cNvCxnSpPr>
            <a:endCxn id="242" idx="1"/>
          </p:cNvCxnSpPr>
          <p:nvPr/>
        </p:nvCxnSpPr>
        <p:spPr>
          <a:xfrm>
            <a:off x="3260520" y="4312440"/>
            <a:ext cx="438480" cy="2224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70" name="Google Shape;290;p35"/>
          <p:cNvCxnSpPr>
            <a:endCxn id="244" idx="1"/>
          </p:cNvCxnSpPr>
          <p:nvPr/>
        </p:nvCxnSpPr>
        <p:spPr>
          <a:xfrm flipV="1">
            <a:off x="3267360" y="3136320"/>
            <a:ext cx="431640" cy="2628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71" name="Google Shape;291;p35"/>
          <p:cNvCxnSpPr>
            <a:endCxn id="246" idx="1"/>
          </p:cNvCxnSpPr>
          <p:nvPr/>
        </p:nvCxnSpPr>
        <p:spPr>
          <a:xfrm>
            <a:off x="3225960" y="2395080"/>
            <a:ext cx="473040" cy="2394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72" name="Google Shape;292;p35"/>
          <p:cNvCxnSpPr>
            <a:endCxn id="248" idx="1"/>
          </p:cNvCxnSpPr>
          <p:nvPr/>
        </p:nvCxnSpPr>
        <p:spPr>
          <a:xfrm flipV="1">
            <a:off x="3246480" y="1238760"/>
            <a:ext cx="452520" cy="2361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73" name="Google Shape;293;p35"/>
          <p:cNvCxnSpPr>
            <a:endCxn id="249" idx="1"/>
          </p:cNvCxnSpPr>
          <p:nvPr/>
        </p:nvCxnSpPr>
        <p:spPr>
          <a:xfrm>
            <a:off x="4388760" y="3295080"/>
            <a:ext cx="487080" cy="2610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74" name="Google Shape;294;p35"/>
          <p:cNvCxnSpPr>
            <a:endCxn id="250" idx="1"/>
          </p:cNvCxnSpPr>
          <p:nvPr/>
        </p:nvCxnSpPr>
        <p:spPr>
          <a:xfrm>
            <a:off x="4395600" y="3281400"/>
            <a:ext cx="480240" cy="6760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75" name="Google Shape;295;p35"/>
          <p:cNvCxnSpPr>
            <a:endCxn id="251" idx="1"/>
          </p:cNvCxnSpPr>
          <p:nvPr/>
        </p:nvCxnSpPr>
        <p:spPr>
          <a:xfrm>
            <a:off x="4375080" y="2387880"/>
            <a:ext cx="500760" cy="2739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76" name="Google Shape;296;p35"/>
          <p:cNvCxnSpPr>
            <a:endCxn id="252" idx="1"/>
          </p:cNvCxnSpPr>
          <p:nvPr/>
        </p:nvCxnSpPr>
        <p:spPr>
          <a:xfrm>
            <a:off x="4402440" y="2395080"/>
            <a:ext cx="473400" cy="6681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77" name="Google Shape;297;p35"/>
          <p:cNvCxnSpPr>
            <a:stCxn id="247" idx="3"/>
            <a:endCxn id="254" idx="1"/>
          </p:cNvCxnSpPr>
          <p:nvPr/>
        </p:nvCxnSpPr>
        <p:spPr>
          <a:xfrm>
            <a:off x="4393080" y="1612440"/>
            <a:ext cx="482760" cy="4017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78" name="Google Shape;298;p35"/>
          <p:cNvCxnSpPr>
            <a:endCxn id="253" idx="1"/>
          </p:cNvCxnSpPr>
          <p:nvPr/>
        </p:nvCxnSpPr>
        <p:spPr>
          <a:xfrm>
            <a:off x="4393080" y="1612440"/>
            <a:ext cx="48276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79" name="Google Shape;299;p35"/>
          <p:cNvCxnSpPr>
            <a:stCxn id="248" idx="3"/>
            <a:endCxn id="256" idx="1"/>
          </p:cNvCxnSpPr>
          <p:nvPr/>
        </p:nvCxnSpPr>
        <p:spPr>
          <a:xfrm>
            <a:off x="4393080" y="1238760"/>
            <a:ext cx="48276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80" name="Google Shape;300;p35"/>
          <p:cNvCxnSpPr>
            <a:endCxn id="255" idx="1"/>
          </p:cNvCxnSpPr>
          <p:nvPr/>
        </p:nvCxnSpPr>
        <p:spPr>
          <a:xfrm flipV="1">
            <a:off x="4381920" y="865080"/>
            <a:ext cx="493920" cy="2149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81" name="Google Shape;301;p35"/>
          <p:cNvCxnSpPr>
            <a:stCxn id="255" idx="3"/>
            <a:endCxn id="257" idx="1"/>
          </p:cNvCxnSpPr>
          <p:nvPr/>
        </p:nvCxnSpPr>
        <p:spPr>
          <a:xfrm>
            <a:off x="5570280" y="865080"/>
            <a:ext cx="39996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282" name="Google Shape;302;p35"/>
          <p:cNvCxnSpPr>
            <a:endCxn id="258" idx="1"/>
          </p:cNvCxnSpPr>
          <p:nvPr/>
        </p:nvCxnSpPr>
        <p:spPr>
          <a:xfrm>
            <a:off x="5572440" y="989640"/>
            <a:ext cx="397800" cy="2494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sp>
        <p:nvSpPr>
          <p:cNvPr id="283" name="Google Shape;303;p35"/>
          <p:cNvSpPr/>
          <p:nvPr/>
        </p:nvSpPr>
        <p:spPr>
          <a:xfrm>
            <a:off x="6036480" y="1702800"/>
            <a:ext cx="2685600" cy="29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Each function makes 2 recursive calls → Exponential complexity, O(2^n).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Observe how many times we end up computing the same values f(n).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Something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Simple Yet Fast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script. What is its time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in [0,1]: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0, b =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i = 1, ..., n-1: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 = a +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 = c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2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DA5930-6194-4A7A-A584-AC9DCB6DF5A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9" dur="indefinite" restart="never" nodeType="tmRoot">
          <p:childTnLst>
            <p:seq>
              <p:cTn id="370" dur="indefinite" nodeType="mainSeq">
                <p:childTnLst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Simple Yet Fast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script. What is its time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in [0,1]: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0, b = 1</a:t>
            </a:r>
            <a:br>
              <a:rPr sz="1600"/>
            </a:b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for i = 1, ..., n-1: ← This repeats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n-1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 times.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 = a +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 = c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complexity: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O(n)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2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600DDE-AEEE-44FC-991B-F14F88C27D7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3" dur="indefinite" restart="never" nodeType="tmRoot">
          <p:childTnLst>
            <p:seq>
              <p:cTn id="384" dur="indefinite" nodeType="mainSeq">
                <p:childTnLst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So, Is Recursion Slow?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 are two chances here: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Recursion is not always the best way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to implement things, which means that Function Programming has more worth as a theoretical construct for mathematicians than it has for actual developers.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Recursion is always the best way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to implement things - or, at least, equally best to imperatives - but we really created a mess with our recursive Fibonacci function.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Which do you think is the case?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2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A42EA5-ED77-4539-9CB3-139EBAB0117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7" dur="indefinite" restart="never" nodeType="tmRoot">
          <p:childTnLst>
            <p:seq>
              <p:cTn id="398" dur="indefinite" nodeType="mainSeq">
                <p:childTnLst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Better Recursion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Let us revisit our first recursive sum example: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rec_sum(numbers):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len(numbers) == 0: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0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numbers[0] + rec_sum(numbers[1:])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is evaluation done in this case, say for a list like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numbers = [1, 2, 3 ,4]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2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FA14B7-2099-4EB8-ADDE-7A4D26C1592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5" dur="indefinite" restart="never" nodeType="tmRoot">
          <p:childTnLst>
            <p:seq>
              <p:cTn id="416" dur="indefinite" nodeType="mainSeq">
                <p:childTnLst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Better Recursion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rec_sum([1, 2, 3, 4]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1 + rec_sum([2, 3, 4])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1 + (2 + rec_sum([3, 4]))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1 + (2 + (3 + rec_sum([4])))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1 + (2 + (3 + (4 + (rec_sum([])))))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1 + (2 + (3 + (4 + 0)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1 + (2 + (3 + 4))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1 + (2 + 7)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1 + 9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10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2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A4F439-7267-4EDD-8E46-C475DB6B8E8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9" dur="indefinite" restart="never" nodeType="tmRoot">
          <p:childTnLst>
            <p:seq>
              <p:cTn id="430" dur="indefinite" nodeType="mainSeq">
                <p:childTnLst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Better Recursion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above execution: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Is really complex for larger values of 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Requires n function calls to complete before evaluation.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Most importantly, relies on the size of the memory’s stack to run for larger values of n (remember, usually the stack is much smaller than the heap in memory).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this way of writing recursion is actually quite restrictive.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But, what could we do, instead?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2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59E33B-CB0D-4D83-9277-87E1DAC70E0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5" dur="indefinite" restart="never" nodeType="tmRoot">
          <p:childTnLst>
            <p:seq>
              <p:cTn id="436" dur="indefinite" nodeType="mainSeq">
                <p:childTnLst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Tail Recursion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this alternative recursive sum function: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tc_sum(numbers, temp_sum = 0):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len(numbers) == 0: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temp_sum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tc_sum(numbers[1:], temp_sum + numbers[0])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__name__ == "__main__":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[5, 2, 8, 6, -4, 6]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print(tc_sum(a))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What’s the difference here?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3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858BB0-4534-48F0-B636-9325BEF1230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1" dur="indefinite" restart="never" nodeType="tmRoot">
          <p:childTnLst>
            <p:seq>
              <p:cTn id="462" dur="indefinite" nodeType="mainSeq">
                <p:childTnLst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Tail Recursion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68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this case, function calls are evaluated as follows (for input [1, 2, 3, 4]):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tc_sum([1, 2, 3, 4], 0)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tc_sum([2, 3, 4], 1)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tc_sum([3, 4], 3)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tc_sum([4], 6)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tc_sum([], 10)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10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Observe how in this case only the last call needs to complete, as it returns the actual value! This seems to save a lot of memory!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3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78EAD8-C5A1-4CE1-9BB3-55CEDD323B1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9" dur="indefinite" restart="never" nodeType="tmRoot">
          <p:childTnLst>
            <p:seq>
              <p:cTn id="480" dur="indefinite" nodeType="mainSeq">
                <p:childTnLst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Tail Call Optimisation (TCO)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While seeming amazingly faster, the previous implementation has as a prerequisite that the implementation of a programming language is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clever enough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to recognise and optimise functions returning calls to other functions.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Such an optimisation is called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Tail Call Optimisation.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Essentially, this optimisation boils down to avoiding opening multiple windows in the memory’s stack, effectively making a tail recursive function generating a constant (and small) number of frames in the stack.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implemented simply by adding a jump (GOTO) during compilation at the return statement of such functions.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3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63082E-ABC0-44AF-8CB0-2B7DB574D2D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3" dur="indefinite" restart="never" nodeType="tmRoot">
          <p:childTnLst>
            <p:seq>
              <p:cTn id="494" dur="indefinite" nodeType="mainSeq">
                <p:childTnLst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Tail Call Optimisation (TCO)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However, adding such jumps has its drawbacks.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most significant could be that this makes it difficult to traceback errors and function chains, in general.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Thus, one has to make a decision on whether to support TCO or not.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Python has made its call, which is not to support TCO.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That is, tail recursion will be of no benefit to us when using Python. However, we shall use it mostly for demonstration purposes.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JavaScript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, on the other hand (since ECMAScript 6)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supports TCO.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3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6A77DB-F086-4CA9-B150-9EBCC790B8F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1" dur="indefinite" restart="never" nodeType="tmRoot">
          <p:childTnLst>
            <p:seq>
              <p:cTn id="512" dur="indefinite" nodeType="mainSeq">
                <p:childTnLst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Tail Factorial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Recall our recursive function for the factorial of an integer from last lecture: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rec_factorial(n):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== 0: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 * rec_factorial(n - 1)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__name__ == "__main__":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print(rec_factorial(5))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tail recursive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version of the above!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3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701C3A-67D8-4303-8D5F-01D264BBD9B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7" dur="indefinite" restart="never" nodeType="tmRoot">
          <p:childTnLst>
            <p:seq>
              <p:cTn id="538" dur="indefinite" nodeType="mainSeq">
                <p:childTnLst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Tail Factorial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tail recursive version of the above might be as follows: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tail_factorial(n, current_factorial = 1):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== 0: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current_factorial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tail_factorial(n - 1, current_factorial * 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__name__ == "__main__":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print(tail_factorial(6))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3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93342D-E4C2-4826-86FE-8B6C68E552F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5" dur="indefinite" restart="never" nodeType="tmRoot">
          <p:childTnLst>
            <p:seq>
              <p:cTn id="556" dur="indefinite" nodeType="mainSeq">
                <p:childTnLst>
                  <p:par>
                    <p:cTn id="557" fill="hold">
                      <p:stCondLst>
                        <p:cond delay="indefinite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fill="hold">
                      <p:stCondLst>
                        <p:cond delay="indefinite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5" fill="hold">
                      <p:stCondLst>
                        <p:cond delay="indefinite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par>
                                <p:cTn id="5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Fibonacci Revisited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how can we improve the following to build a tail recursive function that computes the n-th Fibonacci number?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== 0: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0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 n == 1: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fib(n - 1) + fib(n - 2)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3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465EDC-C6FD-46EE-AAAF-C1D70F60185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69" dur="indefinite" restart="never" nodeType="tmRoot">
          <p:childTnLst>
            <p:seq>
              <p:cTn id="570" dur="indefinite" nodeType="mainSeq">
                <p:childTnLst>
                  <p:par>
                    <p:cTn id="571" fill="hold">
                      <p:stCondLst>
                        <p:cond delay="indefinite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fill="hold">
                      <p:stCondLst>
                        <p:cond delay="indefinite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Tail Fibonacci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8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Again, the trick here is to keep track of the “current” version of the recursive output, as done below: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tail_fib(n, current_fib = 1, prev = 0):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== 0: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current_fib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tail_fib(n - 1, current_fib + prev, current_fib)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__name__ == "__main__":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print([tail_fib(n) for n in range(1, 20)])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3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0A4E82-3C5D-4BB0-B17E-309D81B7BE7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9" dur="indefinite" restart="never" nodeType="tmRoot">
          <p:childTnLst>
            <p:seq>
              <p:cTn id="580" dur="indefinite" nodeType="mainSeq">
                <p:childTnLst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indefinite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indefinite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Epilogue: </a:t>
            </a:r>
            <a:r>
              <a:rPr b="1" lang="el" sz="2600" spc="-1" strike="noStrike">
                <a:solidFill>
                  <a:schemeClr val="dk2"/>
                </a:solidFill>
                <a:latin typeface="Consolas"/>
                <a:ea typeface="Consolas"/>
              </a:rPr>
              <a:t>lambda</a:t>
            </a: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 Functions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Lambda functions are a key feature of lambda calculus, as you may well guess by their name.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Python, as with several other languages, provides support for such functions.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syntax is quite simple, as shown below: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foo = lambda x : x + 1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defines a function stored at a variable,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foo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, which accepts a single parameter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x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as input and returns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x + 1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Example call: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foo(5)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3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18F327-2784-4FC5-909C-01C6D1A661B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3" dur="indefinite" restart="never" nodeType="tmRoot">
          <p:childTnLst>
            <p:seq>
              <p:cTn id="594" dur="indefinite" nodeType="mainSeq">
                <p:childTnLst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>
                      <p:stCondLst>
                        <p:cond delay="indefinite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1" fill="hold">
                      <p:stCondLst>
                        <p:cond delay="indefinite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id="6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5" fill="hold">
                      <p:stCondLst>
                        <p:cond delay="indefinite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Epilogue: Examples of lambda Functions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lambda function that takes a string as an argument and returns its last  character.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bar = lambda x : x[-1]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lambda function that takes two numbers as inputs and computes their sum.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foo = lambda x, y : x + 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lambda function that takes a list of numbers as input and computes its average.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foo = lambda x : sum(x) / len(x)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3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CEB7CF-74D1-418A-AFE4-9A07D26726D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9" dur="indefinite" restart="never" nodeType="tmRoot">
          <p:childTnLst>
            <p:seq>
              <p:cTn id="620" dur="indefinite" nodeType="mainSeq">
                <p:childTnLst>
                  <p:par>
                    <p:cTn id="621" fill="hold">
                      <p:stCondLst>
                        <p:cond delay="indefinite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5" fill="hold">
                      <p:stCondLst>
                        <p:cond delay="indefinite"/>
                      </p:stCondLst>
                      <p:childTnLst>
                        <p:par>
                          <p:cTn id="626" fill="hold">
                            <p:stCondLst>
                              <p:cond delay="0"/>
                            </p:stCondLst>
                            <p:childTnLst>
                              <p:par>
                                <p:cTn id="6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9" fill="hold">
                      <p:stCondLst>
                        <p:cond delay="indefinite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id="6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Fun Time!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sldNum" idx="4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181190-93F8-4EA8-8D05-070E5A1D0274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37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You Decide!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 are given two options: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AutoNum type="arabicPeriod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Resume working / Complete any unfinished lab exercises from last time on the three revision labs (arrays, files, and OOP).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AutoNum type="arabicPeriod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Work with the recursion related exercises that follow (see next slides).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any case, you have to write some code for today’s fun time…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4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65EFFF-0ED9-4376-A456-62A424FC69A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Exercise #001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recursive function that accepts a string from the user and computes its length.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Make sure your function is tail recursive!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4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483475-E201-4983-BB47-5A9D23AFF8F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Exercise #002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recursive list membersive function. That is, your function: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should, provided a list of integers, x, and an integer, a;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check whether a is in x or not.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Try to make your function tail recursive!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4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9792A9-D471-4A23-AECF-EE27F1AECDC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Exercise #003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recursive function that: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takes a list of integers as an input, and;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returns the maximum element of that list.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Make sure your function is tail recursive!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4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0CA18C-D463-44B8-8848-7A0D366950C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Exercises #004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say that a string is palindrome if reading it left to right and right to left results to the same string.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recursive Python function that accepts a string as an input and checks whether it is palindrome or not.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Your function should be tail recursive.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4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9C4F3C-F577-4422-BF8B-D5C030CE094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Exercise #005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4168800" cy="3650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Directory structure in an Operating System is often represented as a tree (see right).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Python function that recursively visits and prints all sub-directories of a user provided directory.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Make sure your function is tail recursive!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i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 can look around the web for how to manipulate directories with Python!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4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AF0459-30EC-46FE-8A89-CE59DCF9CA8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2" name="Google Shape;464;p58" descr=""/>
          <p:cNvPicPr/>
          <p:nvPr/>
        </p:nvPicPr>
        <p:blipFill>
          <a:blip r:embed="rId1"/>
          <a:stretch/>
        </p:blipFill>
        <p:spPr>
          <a:xfrm>
            <a:off x="5065200" y="1378080"/>
            <a:ext cx="3940200" cy="221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Exercise #006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Let’s play with lambda functions! (never sounds that funny, right?)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lambda function that takes a list of numbers and finds its maximum element.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lambda function that takes a list of numbers and finds its second largest element.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a lambda function that takes a list of numbers and finds its second largest element without using any built-in sorting function!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 can define some helper functions for this task!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4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073DF2-8217-4AA7-A711-5807D9DD5D0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The Actual Fun…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Thinking recursively is a bit confusing, especially as one begins their journey with recursion and functional programming.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 our next lab exercise, follow this tutorial, which is exactly about how to think recursively: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Consolas"/>
                <a:ea typeface="Consolas"/>
                <a:hlinkClick r:id="rId1"/>
              </a:rPr>
              <a:t>https://realpython.com/python-thinking-recursively/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4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F7F278-35E5-49F7-A7F6-1718379B75D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Homework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 your homework: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Complete any pending in-class exercises.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Follow the tutorial found below: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https://python-course.eu/advanced-python/recursive-functions.php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any questions, or anything relevant, contact me at: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v.markos@mc-class.gr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4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654CC4-183B-4E30-A2D4-5D69F070039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Any Questions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8419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Don’t forget to fill in the questionnaire shown right!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5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CF593A-33C1-4500-A65B-1A062E3E887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5" name="Google Shape;493;p62" descr=""/>
          <p:cNvPicPr/>
          <p:nvPr/>
        </p:nvPicPr>
        <p:blipFill>
          <a:blip r:embed="rId1"/>
          <a:stretch/>
        </p:blipFill>
        <p:spPr>
          <a:xfrm>
            <a:off x="4724280" y="802440"/>
            <a:ext cx="3337560" cy="3337560"/>
          </a:xfrm>
          <a:prstGeom prst="rect">
            <a:avLst/>
          </a:prstGeom>
          <a:ln w="0">
            <a:noFill/>
          </a:ln>
        </p:spPr>
      </p:pic>
      <p:sp>
        <p:nvSpPr>
          <p:cNvPr id="366" name="Google Shape;494;p62"/>
          <p:cNvSpPr/>
          <p:nvPr/>
        </p:nvSpPr>
        <p:spPr>
          <a:xfrm>
            <a:off x="4724280" y="4105080"/>
            <a:ext cx="35845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300" spc="-1" strike="noStrike" u="sng">
                <a:solidFill>
                  <a:schemeClr val="hlink"/>
                </a:solidFill>
                <a:uFillTx/>
                <a:latin typeface="Consolas"/>
                <a:ea typeface="Consolas"/>
                <a:hlinkClick r:id="rId2"/>
              </a:rPr>
              <a:t>https://forms.gle/YU1mjxjBjBf8hyvH7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2025-12-09T10:09:47Z</dcterms:modified>
  <cp:revision>1</cp:revision>
  <dc:subject/>
  <dc:title/>
</cp:coreProperties>
</file>