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_rels/presentation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9.xml.rels" ContentType="application/vnd.openxmlformats-package.relationships+xml"/>
  <Override PartName="/ppt/slideLayouts/slideLayout2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8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6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4.xml.rels" ContentType="application/vnd.openxmlformats-package.relationships+xml"/>
  <Override PartName="/ppt/slides/_rels/slide27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28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slide16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1C340C6-A1F7-4AFD-BC12-20C1741C6E36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DB50783-7A24-48BE-9D52-D95FFBE29AB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7C2DE34-B188-484C-9FA5-70BF9DA901C5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D62D9D4-4962-4D74-A6F7-24FFB941D51F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61B5C57-7AD1-4238-833A-90F989DDCB9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40F913D-802A-4883-9F80-896543DE14B6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D7FCB7D-FFC7-4D63-AB5A-7BC18DF8D787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1C6A6CB-105A-476B-BB57-C54F16CD1EA3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2277411-18C7-4207-A47A-66B12902D4EF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27F4C36D-ECFF-410C-A77A-21DA86757AD5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176F988-FF32-4888-AB9A-ECFCFD84F914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B4A35FF-062E-488B-B26E-B2B617821946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EF04229-0E03-43A7-980D-29BEDF10D727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91ADDED-4154-4F03-8A97-8A36EEAA2F26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6C0CA1D-7196-408B-BA70-B45D6AE24287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1127FDD-1EAD-47C0-9589-19238351AAB8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43B552-B691-4B52-9641-C70A37A22A7C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48154A-A20F-4AE6-9995-4A705B2617DD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5298B7F-EB7A-409B-AB57-E7152DDFB9C0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FFBFB5A-9AB3-4B74-9905-A2504CCA6656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9BFA686-3FC6-4BF1-9BA0-0593650A2645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D93F9EC-F22C-4B58-BE6F-EA419AE6B739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DE9935E-BAC0-4908-AA22-88F528E5016E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20B6BC3-7209-4B95-8351-6E4C3E7B0315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CD1E279-91AA-454B-9E80-558FA8F7CA78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E473B5-7A80-468A-BE22-C0CAE5C71EBF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BD6ECA-47D6-4657-81CE-6262F43FBF0E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C49A04-2DE4-4640-AB42-96D484B554B7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3D59F3C-F313-4773-A623-71CD1AAC6E24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9913E7-D31C-4A84-9BA2-28930D6E80F1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C76DDC-499D-4E69-B088-7510ECE8B8C0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E116866-4ABE-4DF3-81E4-9896FC5ECBFF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DBB0A9-E665-481E-8DE0-57B18D126C2B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31E186-3D2D-4EA7-BA8F-B3235C0A716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B4FB5A-1B1C-4A4E-9831-1776F9989BC6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B8CC92-BAF7-4733-AFE8-07C3F55F5C13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BC245C9-962F-4B9A-AE23-68FEE8E2A042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D02C72D-DF62-42F3-AC7C-5D015F95485F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CA23C9B-8D6F-4981-91A0-B24B486868D6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5B1E860-F9AE-421F-B19F-BB235760865F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4AB8AA3-D8F3-46C4-9D1A-2D2E15C678FD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ubTitle"/>
          </p:nvPr>
        </p:nvSpPr>
        <p:spPr>
          <a:xfrm>
            <a:off x="730080" y="1318680"/>
            <a:ext cx="3300480" cy="782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C52B091-4798-404A-9BBC-BAD4D6D3AB9F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8A9E7E2-2F71-4E90-AD02-D3AA5E20AFF1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30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388D25D-38D0-4982-A4AC-FB5C71D59A58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83FD038-F143-4A2C-AC0E-0D70ED3BD20B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5174280" y="2932920"/>
            <a:ext cx="33739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2CE7AA3-B64B-4753-884C-2478401D486E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6903360" y="13525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517428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6903360" y="2932920"/>
            <a:ext cx="164628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F042588-1BED-4A87-8007-76B4BA23FE19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517428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631512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/>
          </p:nvPr>
        </p:nvSpPr>
        <p:spPr>
          <a:xfrm>
            <a:off x="7455960" y="13525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/>
          </p:nvPr>
        </p:nvSpPr>
        <p:spPr>
          <a:xfrm>
            <a:off x="517428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/>
          </p:nvPr>
        </p:nvSpPr>
        <p:spPr>
          <a:xfrm>
            <a:off x="631512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7"/>
          <p:cNvSpPr>
            <a:spLocks noGrp="1"/>
          </p:cNvSpPr>
          <p:nvPr>
            <p:ph/>
          </p:nvPr>
        </p:nvSpPr>
        <p:spPr>
          <a:xfrm>
            <a:off x="7455960" y="2932920"/>
            <a:ext cx="1086120" cy="1442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8181E767-A2C3-48A9-948C-E500E6F5D8D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10;p2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" name="Google Shape;11;p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2" name="Google Shape;12;p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" name="Google Shape;13;p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ldNum" idx="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34D914-F890-4081-AB28-A8CE21ADA37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Google Shape;17;p2"/>
          <p:cNvSpPr/>
          <p:nvPr/>
        </p:nvSpPr>
        <p:spPr>
          <a:xfrm>
            <a:off x="6590880" y="3867120"/>
            <a:ext cx="194508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20;p3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45" name="Google Shape;21;p3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6" name="Google Shape;22;p3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86B449C-0919-4323-8E44-08FA6E443A87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26;p4"/>
          <p:cNvSpPr/>
          <p:nvPr/>
        </p:nvSpPr>
        <p:spPr>
          <a:xfrm>
            <a:off x="0" y="0"/>
            <a:ext cx="9143640" cy="4874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7" name="Google Shape;27;p4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88" name="Google Shape;28;p4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9" name="Google Shape;29;p4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ldNum" idx="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671C69C-BBEF-4814-8184-BF4A92977F3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88;p12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0" name="Google Shape;89;p12"/>
          <p:cNvGrpSpPr/>
          <p:nvPr/>
        </p:nvGrpSpPr>
        <p:grpSpPr>
          <a:xfrm>
            <a:off x="530280" y="1205640"/>
            <a:ext cx="1342800" cy="17280"/>
            <a:chOff x="530280" y="1205640"/>
            <a:chExt cx="1342800" cy="17280"/>
          </a:xfrm>
        </p:grpSpPr>
        <p:sp>
          <p:nvSpPr>
            <p:cNvPr id="131" name="Google Shape;90;p12"/>
            <p:cNvSpPr/>
            <p:nvPr/>
          </p:nvSpPr>
          <p:spPr>
            <a:xfrm rot="16200000">
              <a:off x="1380600" y="730440"/>
              <a:ext cx="17280" cy="967320"/>
            </a:xfrm>
            <a:prstGeom prst="rect">
              <a:avLst/>
            </a:prstGeom>
            <a:solidFill>
              <a:schemeClr val="accent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2" name="Google Shape;91;p12"/>
            <p:cNvSpPr/>
            <p:nvPr/>
          </p:nvSpPr>
          <p:spPr>
            <a:xfrm rot="16200000">
              <a:off x="1009440" y="726480"/>
              <a:ext cx="17280" cy="975600"/>
            </a:xfrm>
            <a:prstGeom prst="rect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5174280" y="1352520"/>
            <a:ext cx="3373920" cy="3025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74000"/>
          </a:bodyPr>
          <a:p>
            <a:pPr marL="319680" indent="-23976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1" marL="639360" indent="-23976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2" marL="959040" indent="-21312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3" marL="1278720" indent="-15984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4" marL="159840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5" marL="191808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lvl="6" marL="2237760" indent="-15984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879ECF-37FA-4B42-A0D3-39EF14DF477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forms.gle/35JZhq9QD425xejs6" TargetMode="External"/><Relationship Id="rId2" Type="http://schemas.openxmlformats.org/officeDocument/2006/relationships/slideLayout" Target="../slideLayouts/slideLayout2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ell.stackexchange.com/questions/6207/proper-term-for-dog-waste" TargetMode="External"/><Relationship Id="rId2" Type="http://schemas.openxmlformats.org/officeDocument/2006/relationships/slideLayout" Target="../slideLayouts/slideLayout2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en.wikipedia.org/wiki/Phylogenetic_tree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s://realpython.com/python-classes/" TargetMode="External"/><Relationship Id="rId2" Type="http://schemas.openxmlformats.org/officeDocument/2006/relationships/slideLayout" Target="../slideLayouts/slideLayout27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hyperlink" Target="https://forms.gle/LSiNr4Rx5LNxUfjVA" TargetMode="External"/><Relationship Id="rId2" Type="http://schemas.openxmlformats.org/officeDocument/2006/relationships/slideLayout" Target="../slideLayouts/slideLayout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hyperlink" Target="https://forms.gle/zezKMVzhaT4xyJgk8" TargetMode="External"/><Relationship Id="rId2" Type="http://schemas.openxmlformats.org/officeDocument/2006/relationships/hyperlink" Target="https://forms.gle/zezKMVzhaT4xyJgk8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7800" cy="1664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4200" spc="-1" strike="noStrike">
                <a:solidFill>
                  <a:schemeClr val="dk2"/>
                </a:solidFill>
                <a:latin typeface="Lato"/>
                <a:ea typeface="Lato"/>
              </a:rPr>
              <a:t>Programming</a:t>
            </a:r>
            <a:br>
              <a:rPr sz="4200"/>
            </a:b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Classes And OOP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subTitle"/>
          </p:nvPr>
        </p:nvSpPr>
        <p:spPr>
          <a:xfrm>
            <a:off x="729720" y="3173040"/>
            <a:ext cx="7687800" cy="8280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Vassilis Markos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Mediterranean College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114;p16"/>
          <p:cNvSpPr/>
          <p:nvPr/>
        </p:nvSpPr>
        <p:spPr>
          <a:xfrm>
            <a:off x="6029640" y="4001400"/>
            <a:ext cx="2387520" cy="61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ubTitle"/>
          </p:nvPr>
        </p:nvSpPr>
        <p:spPr>
          <a:xfrm>
            <a:off x="6057000" y="3821760"/>
            <a:ext cx="2360520" cy="112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algn="r">
              <a:lnSpc>
                <a:spcPct val="115000"/>
              </a:lnSpc>
              <a:spcAft>
                <a:spcPts val="1199"/>
              </a:spcAft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Week 09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Last Time’s Exercises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sldNum" idx="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F6EE69-17A3-4A6D-8062-E32EB1D9B25B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Before That…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Take a moment to help me design our revision materials according to your needs: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https://forms.gle/35JZhq9QD425xejs6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Responses are anonymous so feel free to be as sincere as possible!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sldNum" idx="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59A4D0-B7B0-48BB-B12B-026C185D051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Last Time’s Lab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Before we proceed with today’s materials, let us complete any work undone on last time’s lab. You can find it at: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source/Programming_Lab_04.pdf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sldNum" idx="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BE3C312-4C61-4CB8-9DE6-13E1425EABD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Classes &amp; Objects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ldNum" idx="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339994-A3E4-4457-8DA9-D2A29F489AB2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Dogs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Think about dogs for a moment. What are some common things all (or most) dogs do on a daily basis?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bark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walk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run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produce “</a:t>
            </a: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dog mess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”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Write some python code that simulates the above!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instance, barking could be simulated by a message print on screen, walking / running could be simulated by a variable indicating a dog’s location changing values etc.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73FD43E-02E4-4CEB-9AF8-4823F5C1BEF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Dogs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Open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exm_01.py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Read the code therein and try to understand how it works.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Play around with the main function (have your dog bark, run, walk or make some mess in various combinations).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Add any functionality you might find meaningful.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Now, based on that, try to model a two-dog interaction. Things dogs do when encountering other canines include: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smelling each other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barking at each other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playing with each other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1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B155194-E5A0-427D-8685-E2636AB3899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1" dur="indefinite" restart="never" nodeType="tmRoot">
          <p:childTnLst>
            <p:seq>
              <p:cTn id="3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Dogs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 you have any comments to make on your code? Is it easy to understand for others?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about having a dozen of dogs? What changes should you make for such a case to work properly?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about naming your dogs? (Alice, Bob, Charlie, David etc) How would you do it?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if you forget to name some dog? What should you do, then?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 dogs are more social than others. How can you take that into account?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dogs have to do with Python?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1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7E4244-30AA-4634-A758-13CF5E2BA13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69" dur="indefinite" restart="never" nodeType="tmRoot">
          <p:childTnLst>
            <p:seq>
              <p:cTn id="70" dur="indefinite" nodeType="mainSeq">
                <p:childTnLst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Classy Dogs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Open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exm_02.py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 you see in there? Compare it to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exm_01.py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this class thing mean?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Don’t look at me! Open a browser and try to understand yourselves!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what is a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class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Briefly, classes are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abstractions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of (real) entities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incorporating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relevant data and functionalities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that help us put things together in a meaningful way.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sldNum" idx="1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650503-243F-4735-8713-E699A7D39064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95" dur="indefinite" restart="never" nodeType="tmRoot">
          <p:childTnLst>
            <p:seq>
              <p:cTn id="96" dur="indefinite" nodeType="mainSeq">
                <p:childTnLst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Classy Dogs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are some benefits of using classes?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have everything in one place.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avoid writing duplicate / similar lines of code.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can bind functionality to data (this is important!)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make our code easier to maintain (imagine having to change every single dog you have created to add a new feature…)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can do some (almost) real magic (stay tuned).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Extend the Dog class to allow them have a name (determined by users), and implement talking to, smelling, and playing with other dogs!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FF8707-BE74-456A-B7FC-93FCDA4C14C2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25" dur="indefinite" restart="never" nodeType="tmRoot">
          <p:childTnLst>
            <p:seq>
              <p:cTn id="126" dur="indefinite" nodeType="mainSeq">
                <p:childTnLst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Classy Cats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9000"/>
          </a:bodyPr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does a cat do as part of its daily routine?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It is adorable (well…)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It purrs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It changes its fur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It cleans itself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It plays with itself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05040" indent="-3265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Implement a python class named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Cat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that showcases some reasonable cat functionality.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2520" indent="-3265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can find a sample implementation at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exm_03.py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sldNum" idx="1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51376A7-8A6C-4223-960F-2484B94FE5CB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55" dur="indefinite" restart="never" nodeType="tmRoot">
          <p:childTnLst>
            <p:seq>
              <p:cTn id="156" dur="indefinite" nodeType="mainSeq">
                <p:childTnLst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Object Oriented Programming (OOP)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8000"/>
          </a:bodyPr>
          <a:p>
            <a:pPr marL="447840" indent="-32328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Using classes and all that stuff we have discussed so far is formally called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Object Oriented Programming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47840" indent="-32328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idea is, as we said, that we bind functionalities to data.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47840" indent="-32328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class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in OOP is a description of an abstraction of some entity (e.g., the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Dog 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and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Cat 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classes we have designed so far).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47840" indent="-32328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An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object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in OOP is a specific instance of a class. You can think of classes as recipes and of objects as the specific instances of a recipe (that bolognese you made yesterday).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47840" indent="-32328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 are four main characteristics / benefits of OOP: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96040" indent="-32328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Inheritance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96040" indent="-32328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Data abstraction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96040" indent="-32328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Encapsulation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96040" indent="-32328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Polymorphism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 type="sldNum" idx="1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D71875-EB0C-4F46-8059-E76BAF7805F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93" dur="indefinite" restart="never" nodeType="tmRoot">
          <p:childTnLst>
            <p:seq>
              <p:cTn id="194" dur="indefinite" nodeType="mainSeq">
                <p:childTnLst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Time for Biology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3731400" cy="3731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a </a:t>
            </a: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phylogenetic tree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used to denote ancestry relationships between various species.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As you move closer to this tree’s root (here, in the centre of the graph) observe how you find common ancestors of several species.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do something similar in programming…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sldNum" idx="1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B7B7B7-D53D-4EA3-BF55-27E33ACDC160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10" name="Google Shape;198;p28" descr=""/>
          <p:cNvPicPr/>
          <p:nvPr/>
        </p:nvPicPr>
        <p:blipFill>
          <a:blip r:embed="rId2"/>
          <a:stretch/>
        </p:blipFill>
        <p:spPr>
          <a:xfrm>
            <a:off x="4804560" y="1378080"/>
            <a:ext cx="3731040" cy="373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31" dur="indefinite" restart="never" nodeType="tmRoot">
          <p:childTnLst>
            <p:seq>
              <p:cTn id="232" dur="indefinite" nodeType="mainSeq">
                <p:childTnLst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Inheritance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OOP we understand inheritance in a similar yet different way from biologists…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Think of the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Cat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and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Dog 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classes we have implemented so far. What do they have in common: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Both allow for self-playing as well as playing with others.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Both allow for moving objects (through functions and corresponding object fields).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Both allow for some sort of “talking”.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However, Cats and Dogs also have their differences: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Dogs bark, cats purr (the also “meow”).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Dogs walk and run, while cats don’t (at least, so far).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Dogs produce mess, cats don’t.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1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FC120A-5E18-4DF7-B545-7C925670C83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53" dur="indefinite" restart="never" nodeType="tmRoot">
          <p:childTnLst>
            <p:seq>
              <p:cTn id="254" dur="indefinite" nodeType="mainSeq">
                <p:childTnLst>
                  <p:par>
                    <p:cTn id="255" fill="hold">
                      <p:stCondLst>
                        <p:cond delay="indefinite"/>
                      </p:stCondLst>
                      <p:childTnLst>
                        <p:par>
                          <p:cTn id="256" fill="hold">
                            <p:stCondLst>
                              <p:cond delay="0"/>
                            </p:stCondLst>
                            <p:childTnLst>
                              <p:par>
                                <p:cTn id="2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3" fill="hold">
                      <p:stCondLst>
                        <p:cond delay="indefinite"/>
                      </p:stCondLst>
                      <p:childTnLst>
                        <p:par>
                          <p:cTn id="284" fill="hold">
                            <p:stCondLst>
                              <p:cond delay="0"/>
                            </p:stCondLst>
                            <p:childTnLst>
                              <p:par>
                                <p:cTn id="28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7" fill="hold">
                      <p:stCondLst>
                        <p:cond delay="indefinite"/>
                      </p:stCondLst>
                      <p:childTnLst>
                        <p:par>
                          <p:cTn id="288" fill="hold">
                            <p:stCondLst>
                              <p:cond delay="0"/>
                            </p:stCondLst>
                            <p:childTnLst>
                              <p:par>
                                <p:cTn id="28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Inheritance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OOP we tend to factor out common functionalities + data in what we call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Parent classes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(or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ancestor classes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, in general).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our case, we could design a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Pet 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class, that contains all common functionalities and data fields of Dogs and Cats.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Actually, “we”, means “you”, so play around a bit with python and write a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Pet 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class, as described above!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can find a relevant implementation at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exm_04.py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1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455B2E-5BB3-4102-9342-5C425E96885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15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291" dur="indefinite" restart="never" nodeType="tmRoot">
          <p:childTnLst>
            <p:seq>
              <p:cTn id="292" dur="indefinite" nodeType="mainSeq">
                <p:childTnLst>
                  <p:par>
                    <p:cTn id="293" fill="hold">
                      <p:stCondLst>
                        <p:cond delay="indefinite"/>
                      </p:stCondLst>
                      <p:childTnLst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7" fill="hold">
                      <p:stCondLst>
                        <p:cond delay="indefinite"/>
                      </p:stCondLst>
                      <p:childTnLst>
                        <p:par>
                          <p:cTn id="298" fill="hold">
                            <p:stCondLst>
                              <p:cond delay="0"/>
                            </p:stCondLst>
                            <p:childTnLst>
                              <p:par>
                                <p:cTn id="2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Overwriting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In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exm_04.py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observe the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Pet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and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Dog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classes.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They both define a method named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talk()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 How does each work?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Consider the following script and explain its behaviour: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__name__ == “__main__”: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alice = Pet(“Alice”)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bob = Dog(“Bob”)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alice.talk()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bob.talk()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A4A083A-E44E-4B8C-BECD-95A5A7A105B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16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09" dur="indefinite" restart="never" nodeType="tmRoot">
          <p:childTnLst>
            <p:seq>
              <p:cTn id="310" dur="indefinite" nodeType="mainSeq">
                <p:childTnLst>
                  <p:par>
                    <p:cTn id="311" fill="hold">
                      <p:stCondLst>
                        <p:cond delay="indefinite"/>
                      </p:stCondLst>
                      <p:childTnLst>
                        <p:par>
                          <p:cTn id="312" fill="hold">
                            <p:stCondLst>
                              <p:cond delay="0"/>
                            </p:stCondLst>
                            <p:childTnLst>
                              <p:par>
                                <p:cTn id="31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5" fill="hold">
                      <p:stCondLst>
                        <p:cond delay="indefinite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3" fill="hold">
                      <p:stCondLst>
                        <p:cond delay="indefinite"/>
                      </p:stCondLst>
                      <p:childTnLst>
                        <p:par>
                          <p:cTn id="324" fill="hold">
                            <p:stCondLst>
                              <p:cond delay="0"/>
                            </p:stCondLst>
                            <p:childTnLst>
                              <p:par>
                                <p:cTn id="3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Overwriting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When inheriting a class we can redefine any method or field we want to. This is called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overwriting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useful because, in many cases, there is a quasi-default behaviour for most child classes, but not for all. This is when overwriting shines.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Some key takeaways about overwriting: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Overwriting a method in a child class </a:t>
            </a:r>
            <a:r>
              <a:rPr b="1" lang="el" sz="1600" spc="-1" strike="noStrike">
                <a:solidFill>
                  <a:schemeClr val="dk1"/>
                </a:solidFill>
                <a:latin typeface="Lato"/>
                <a:ea typeface="Lato"/>
              </a:rPr>
              <a:t>does not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change its parent’s implementation.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An overwriting a method can still call its parent’s very same method, if needed.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2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2FA122-3E3A-4E02-81A1-7315B03093FA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17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27" dur="indefinite" restart="never" nodeType="tmRoot">
          <p:childTnLst>
            <p:seq>
              <p:cTn id="328" dur="indefinite" nodeType="mainSeq">
                <p:childTnLst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3" fill="hold">
                      <p:stCondLst>
                        <p:cond delay="indefinite"/>
                      </p:stCondLst>
                      <p:childTnLst>
                        <p:par>
                          <p:cTn id="334" fill="hold">
                            <p:stCondLst>
                              <p:cond delay="0"/>
                            </p:stCondLst>
                            <p:childTnLst>
                              <p:par>
                                <p:cTn id="33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7" fill="hold">
                      <p:stCondLst>
                        <p:cond delay="indefinite"/>
                      </p:stCondLst>
                      <p:childTnLst>
                        <p:par>
                          <p:cTn id="338" fill="hold">
                            <p:stCondLst>
                              <p:cond delay="0"/>
                            </p:stCondLst>
                            <p:childTnLst>
                              <p:par>
                                <p:cTn id="33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1" fill="hold">
                      <p:stCondLst>
                        <p:cond delay="indefinite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5" fill="hold">
                      <p:stCondLst>
                        <p:cond delay="indefinite"/>
                      </p:stCondLst>
                      <p:childTnLst>
                        <p:par>
                          <p:cTn id="346" fill="hold">
                            <p:stCondLst>
                              <p:cond delay="0"/>
                            </p:stCondLst>
                            <p:childTnLst>
                              <p:par>
                                <p:cTn id="34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Polymorphism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2000"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will this print? (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exm_05.py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from exm_04 import Pet, Dog, Cat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def main():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alice = Dog("Alice")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print(f"Is {alice.name} a dog? {isinstance(alice, Dog)}.")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print(f"Is {alice.name} a cat? {isinstance(alice, Cat)}.")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print(f"Is {alice.name} a pet? {isinstance(alice, Pet)}.")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if __name__ == "__main__":</a:t>
            </a:r>
            <a:br>
              <a:rPr sz="1600"/>
            </a:b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	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main()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2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7CAB09-0F12-4E20-A206-BB3DF23D6F9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18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49" dur="indefinite" restart="never" nodeType="tmRoot">
          <p:childTnLst>
            <p:seq>
              <p:cTn id="350" dur="indefinite" nodeType="mainSeq">
                <p:childTnLst>
                  <p:par>
                    <p:cTn id="351" fill="hold">
                      <p:stCondLst>
                        <p:cond delay="indefinite"/>
                      </p:stCondLst>
                      <p:childTnLst>
                        <p:par>
                          <p:cTn id="352" fill="hold">
                            <p:stCondLst>
                              <p:cond delay="0"/>
                            </p:stCondLst>
                            <p:childTnLst>
                              <p:par>
                                <p:cTn id="3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5" fill="hold">
                      <p:stCondLst>
                        <p:cond delay="indefinite"/>
                      </p:stCondLst>
                      <p:childTnLst>
                        <p:par>
                          <p:cTn id="356" fill="hold">
                            <p:stCondLst>
                              <p:cond delay="0"/>
                            </p:stCondLst>
                            <p:childTnLst>
                              <p:par>
                                <p:cTn id="35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9" fill="hold">
                      <p:stCondLst>
                        <p:cond delay="indefinite"/>
                      </p:stCondLst>
                      <p:childTnLst>
                        <p:par>
                          <p:cTn id="360" fill="hold">
                            <p:stCondLst>
                              <p:cond delay="0"/>
                            </p:stCondLst>
                            <p:childTnLst>
                              <p:par>
                                <p:cTn id="36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3" fill="hold">
                      <p:stCondLst>
                        <p:cond delay="indefinite"/>
                      </p:stCondLst>
                      <p:childTnLst>
                        <p:par>
                          <p:cTn id="364" fill="hold">
                            <p:stCondLst>
                              <p:cond delay="0"/>
                            </p:stCondLst>
                            <p:childTnLst>
                              <p:par>
                                <p:cTn id="36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Polymorphism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48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Polymorphism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: The situation where “a thing” is like “many things”.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For instance, in the above: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Cats are also Pets.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Dogs are also Pets.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Dogs are not Cats or vice versa.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can we access a parent method from a child instance in python?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E.g., how can we make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alice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(a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Dog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)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talk()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like a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Pet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Look around the web for that!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 answer is… [drum roll]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We can’t.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important if it happens to know some other OOP language (e.g., Java).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22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80AA7A-E077-4E0F-A0AD-361C84E07E5E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19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367" dur="indefinite" restart="never" nodeType="tmRoot">
          <p:childTnLst>
            <p:seq>
              <p:cTn id="368" dur="indefinite" nodeType="mainSeq">
                <p:childTnLst>
                  <p:par>
                    <p:cTn id="369" fill="hold">
                      <p:stCondLst>
                        <p:cond delay="indefinite"/>
                      </p:stCondLst>
                      <p:childTnLst>
                        <p:par>
                          <p:cTn id="370" fill="hold">
                            <p:stCondLst>
                              <p:cond delay="0"/>
                            </p:stCondLst>
                            <p:childTnLst>
                              <p:par>
                                <p:cTn id="3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3" fill="hold">
                      <p:stCondLst>
                        <p:cond delay="indefinite"/>
                      </p:stCondLst>
                      <p:childTnLst>
                        <p:par>
                          <p:cTn id="374" fill="hold">
                            <p:stCondLst>
                              <p:cond delay="0"/>
                            </p:stCondLst>
                            <p:childTnLst>
                              <p:par>
                                <p:cTn id="3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7" fill="hold">
                      <p:stCondLst>
                        <p:cond delay="indefinite"/>
                      </p:stCondLst>
                      <p:childTnLst>
                        <p:par>
                          <p:cTn id="378" fill="hold">
                            <p:stCondLst>
                              <p:cond delay="0"/>
                            </p:stCondLst>
                            <p:childTnLst>
                              <p:par>
                                <p:cTn id="3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1" fill="hold">
                      <p:stCondLst>
                        <p:cond delay="indefinite"/>
                      </p:stCondLst>
                      <p:childTnLst>
                        <p:par>
                          <p:cTn id="382" fill="hold">
                            <p:stCondLst>
                              <p:cond delay="0"/>
                            </p:stCondLst>
                            <p:childTnLst>
                              <p:par>
                                <p:cTn id="3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5" fill="hold">
                      <p:stCondLst>
                        <p:cond delay="indefinite"/>
                      </p:stCondLst>
                      <p:childTnLst>
                        <p:par>
                          <p:cTn id="386" fill="hold">
                            <p:stCondLst>
                              <p:cond delay="0"/>
                            </p:stCondLst>
                            <p:childTnLst>
                              <p:par>
                                <p:cTn id="3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9" fill="hold">
                      <p:stCondLst>
                        <p:cond delay="indefinite"/>
                      </p:stCondLst>
                      <p:childTnLst>
                        <p:par>
                          <p:cTn id="390" fill="hold">
                            <p:stCondLst>
                              <p:cond delay="0"/>
                            </p:stCondLst>
                            <p:childTnLst>
                              <p:par>
                                <p:cTn id="39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3" fill="hold">
                      <p:stCondLst>
                        <p:cond delay="indefinite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7" fill="hold">
                      <p:stCondLst>
                        <p:cond delay="indefinite"/>
                      </p:stCondLst>
                      <p:childTnLst>
                        <p:par>
                          <p:cTn id="398" fill="hold">
                            <p:stCondLst>
                              <p:cond delay="0"/>
                            </p:stCondLst>
                            <p:childTnLst>
                              <p:par>
                                <p:cTn id="39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1" fill="hold">
                      <p:stCondLst>
                        <p:cond delay="indefinite"/>
                      </p:stCondLst>
                      <p:childTnLst>
                        <p:par>
                          <p:cTn id="402" fill="hold">
                            <p:stCondLst>
                              <p:cond delay="0"/>
                            </p:stCondLst>
                            <p:childTnLst>
                              <p:par>
                                <p:cTn id="40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5" fill="hold">
                      <p:stCondLst>
                        <p:cond delay="indefinite"/>
                      </p:stCondLst>
                      <p:childTnLst>
                        <p:par>
                          <p:cTn id="406" fill="hold">
                            <p:stCondLst>
                              <p:cond delay="0"/>
                            </p:stCondLst>
                            <p:childTnLst>
                              <p:par>
                                <p:cTn id="4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9" fill="hold">
                      <p:stCondLst>
                        <p:cond delay="indefinite"/>
                      </p:stCondLst>
                      <p:childTnLst>
                        <p:par>
                          <p:cTn id="410" fill="hold">
                            <p:stCondLst>
                              <p:cond delay="0"/>
                            </p:stCondLst>
                            <p:childTnLst>
                              <p:par>
                                <p:cTn id="4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Encapsulation &amp; Data Abstraction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37652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Encapsulation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[Take 1]: A fancy word to confuse you.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Encapsulation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[Take 2]: The act of binding functions / methods with data together.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E.g., a dog (datum) can bark (action → function).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Data Abstraction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: The act of keeping things at a higher level, hiding lower-level details.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Revisit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exm_05.py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without taking a look at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exm_04.py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are dog implemented in the background?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don’t know! (abstraction: the lower level is hidden from you)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How does class Cat implement Cat.play()?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don’t know! (abstraction: the lower level is hidden from you)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330120">
              <a:lnSpc>
                <a:spcPct val="115000"/>
              </a:lnSpc>
              <a:buClr>
                <a:srgbClr val="595959"/>
              </a:buClr>
              <a:buFont typeface="Lato"/>
              <a:buChar char="○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can treat Pet, Dog and Cat as black boxes offering some functionality.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23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14091C1-9FE3-48F5-818B-AFE07A37375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20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13" dur="indefinite" restart="never" nodeType="tmRoot">
          <p:childTnLst>
            <p:seq>
              <p:cTn id="414" dur="indefinite" nodeType="mainSeq">
                <p:childTnLst>
                  <p:par>
                    <p:cTn id="415" fill="hold">
                      <p:stCondLst>
                        <p:cond delay="indefinite"/>
                      </p:stCondLst>
                      <p:childTnLst>
                        <p:par>
                          <p:cTn id="416" fill="hold">
                            <p:stCondLst>
                              <p:cond delay="0"/>
                            </p:stCondLst>
                            <p:childTnLst>
                              <p:par>
                                <p:cTn id="41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9" fill="hold">
                      <p:stCondLst>
                        <p:cond delay="indefinite"/>
                      </p:stCondLst>
                      <p:childTnLst>
                        <p:par>
                          <p:cTn id="420" fill="hold">
                            <p:stCondLst>
                              <p:cond delay="0"/>
                            </p:stCondLst>
                            <p:childTnLst>
                              <p:par>
                                <p:cTn id="42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3" fill="hold">
                      <p:stCondLst>
                        <p:cond delay="indefinite"/>
                      </p:stCondLst>
                      <p:childTnLst>
                        <p:par>
                          <p:cTn id="424" fill="hold">
                            <p:stCondLst>
                              <p:cond delay="0"/>
                            </p:stCondLst>
                            <p:childTnLst>
                              <p:par>
                                <p:cTn id="42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7" fill="hold">
                      <p:stCondLst>
                        <p:cond delay="indefinite"/>
                      </p:stCondLst>
                      <p:childTnLst>
                        <p:par>
                          <p:cTn id="428" fill="hold">
                            <p:stCondLst>
                              <p:cond delay="0"/>
                            </p:stCondLst>
                            <p:childTnLst>
                              <p:par>
                                <p:cTn id="42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1" fill="hold">
                      <p:stCondLst>
                        <p:cond delay="indefinite"/>
                      </p:stCondLst>
                      <p:childTnLst>
                        <p:par>
                          <p:cTn id="432" fill="hold">
                            <p:stCondLst>
                              <p:cond delay="0"/>
                            </p:stCondLst>
                            <p:childTnLst>
                              <p:par>
                                <p:cTn id="4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5" fill="hold">
                      <p:stCondLst>
                        <p:cond delay="indefinite"/>
                      </p:stCondLst>
                      <p:childTnLst>
                        <p:par>
                          <p:cTn id="436" fill="hold">
                            <p:stCondLst>
                              <p:cond delay="0"/>
                            </p:stCondLst>
                            <p:childTnLst>
                              <p:par>
                                <p:cTn id="4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9" fill="hold">
                      <p:stCondLst>
                        <p:cond delay="indefinite"/>
                      </p:stCondLst>
                      <p:childTnLst>
                        <p:par>
                          <p:cTn id="440" fill="hold">
                            <p:stCondLst>
                              <p:cond delay="0"/>
                            </p:stCondLst>
                            <p:childTnLst>
                              <p:par>
                                <p:cTn id="4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3" fill="hold">
                      <p:stCondLst>
                        <p:cond delay="indefinite"/>
                      </p:stCondLst>
                      <p:childTnLst>
                        <p:par>
                          <p:cTn id="444" fill="hold">
                            <p:stCondLst>
                              <p:cond delay="0"/>
                            </p:stCondLst>
                            <p:childTnLst>
                              <p:par>
                                <p:cTn id="44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7" fill="hold">
                      <p:stCondLst>
                        <p:cond delay="indefinite"/>
                      </p:stCondLst>
                      <p:childTnLst>
                        <p:par>
                          <p:cTn id="448" fill="hold">
                            <p:stCondLst>
                              <p:cond delay="0"/>
                            </p:stCondLst>
                            <p:childTnLst>
                              <p:par>
                                <p:cTn id="44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1" fill="hold">
                      <p:stCondLst>
                        <p:cond delay="indefinite"/>
                      </p:stCondLst>
                      <p:childTnLst>
                        <p:par>
                          <p:cTn id="452" fill="hold">
                            <p:stCondLst>
                              <p:cond delay="0"/>
                            </p:stCondLst>
                            <p:childTnLst>
                              <p:par>
                                <p:cTn id="45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Class-ic Fun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 not execute the file below! (Uhm… Which file?)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Open and study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exm_06.py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is going on in there? What will it print?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Take your time, don’t rush!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Okay, now you can run the script.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[break to get sufficiently surprised]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What did happen?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Can you explain it?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24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76DB61-74F1-406C-B20A-22BCDCD671C9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21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55" dur="indefinite" restart="never" nodeType="tmRoot">
          <p:childTnLst>
            <p:seq>
              <p:cTn id="456" dur="indefinite" nodeType="mainSeq">
                <p:childTnLst>
                  <p:par>
                    <p:cTn id="457" fill="hold">
                      <p:stCondLst>
                        <p:cond delay="indefinite"/>
                      </p:stCondLst>
                      <p:childTnLst>
                        <p:par>
                          <p:cTn id="458" fill="hold">
                            <p:stCondLst>
                              <p:cond delay="0"/>
                            </p:stCondLst>
                            <p:childTnLst>
                              <p:par>
                                <p:cTn id="45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1" fill="hold">
                      <p:stCondLst>
                        <p:cond delay="indefinite"/>
                      </p:stCondLst>
                      <p:childTnLst>
                        <p:par>
                          <p:cTn id="462" fill="hold">
                            <p:stCondLst>
                              <p:cond delay="0"/>
                            </p:stCondLst>
                            <p:childTnLst>
                              <p:par>
                                <p:cTn id="46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5" fill="hold">
                      <p:stCondLst>
                        <p:cond delay="indefinite"/>
                      </p:stCondLst>
                      <p:childTnLst>
                        <p:par>
                          <p:cTn id="466" fill="hold">
                            <p:stCondLst>
                              <p:cond delay="0"/>
                            </p:stCondLst>
                            <p:childTnLst>
                              <p:par>
                                <p:cTn id="46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9" fill="hold">
                      <p:stCondLst>
                        <p:cond delay="indefinite"/>
                      </p:stCondLst>
                      <p:childTnLst>
                        <p:par>
                          <p:cTn id="470" fill="hold">
                            <p:stCondLst>
                              <p:cond delay="0"/>
                            </p:stCondLst>
                            <p:childTnLst>
                              <p:par>
                                <p:cTn id="47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3" fill="hold">
                      <p:stCondLst>
                        <p:cond delay="indefinite"/>
                      </p:stCondLst>
                      <p:childTnLst>
                        <p:par>
                          <p:cTn id="474" fill="hold">
                            <p:stCondLst>
                              <p:cond delay="0"/>
                            </p:stCondLst>
                            <p:childTnLst>
                              <p:par>
                                <p:cTn id="47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7" fill="hold">
                      <p:stCondLst>
                        <p:cond delay="indefinite"/>
                      </p:stCondLst>
                      <p:childTnLst>
                        <p:par>
                          <p:cTn id="478" fill="hold">
                            <p:stCondLst>
                              <p:cond delay="0"/>
                            </p:stCondLst>
                            <p:childTnLst>
                              <p:par>
                                <p:cTn id="47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1" fill="hold">
                      <p:stCondLst>
                        <p:cond delay="indefinite"/>
                      </p:stCondLst>
                      <p:childTnLst>
                        <p:par>
                          <p:cTn id="482" fill="hold">
                            <p:stCondLst>
                              <p:cond delay="0"/>
                            </p:stCondLst>
                            <p:childTnLst>
                              <p:par>
                                <p:cTn id="48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5" fill="hold">
                      <p:stCondLst>
                        <p:cond delay="indefinite"/>
                      </p:stCondLst>
                      <p:childTnLst>
                        <p:par>
                          <p:cTn id="486" fill="hold">
                            <p:stCondLst>
                              <p:cond delay="0"/>
                            </p:stCondLst>
                            <p:childTnLst>
                              <p:par>
                                <p:cTn id="48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Class-ic Fun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sldNum" idx="25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FE1B83-1046-4476-9047-38AA831752EF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237" name="Google Shape;261;p37"/>
          <p:cNvGrpSpPr/>
          <p:nvPr/>
        </p:nvGrpSpPr>
        <p:grpSpPr>
          <a:xfrm>
            <a:off x="865440" y="1585440"/>
            <a:ext cx="3869640" cy="3148200"/>
            <a:chOff x="865440" y="1585440"/>
            <a:chExt cx="3869640" cy="3148200"/>
          </a:xfrm>
        </p:grpSpPr>
        <p:sp>
          <p:nvSpPr>
            <p:cNvPr id="238" name="Google Shape;262;p37"/>
            <p:cNvSpPr/>
            <p:nvPr/>
          </p:nvSpPr>
          <p:spPr>
            <a:xfrm>
              <a:off x="865440" y="15854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bob: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9" name="Google Shape;263;p37"/>
            <p:cNvSpPr/>
            <p:nvPr/>
          </p:nvSpPr>
          <p:spPr>
            <a:xfrm>
              <a:off x="865440" y="19789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bob.name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" name="Google Shape;264;p37"/>
            <p:cNvSpPr/>
            <p:nvPr/>
          </p:nvSpPr>
          <p:spPr>
            <a:xfrm>
              <a:off x="865440" y="237240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bob.location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" name="Google Shape;265;p37"/>
            <p:cNvSpPr/>
            <p:nvPr/>
          </p:nvSpPr>
          <p:spPr>
            <a:xfrm>
              <a:off x="865440" y="27662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&lt;other bob stuff&gt;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2" name="Google Shape;266;p37"/>
            <p:cNvSpPr/>
            <p:nvPr/>
          </p:nvSpPr>
          <p:spPr>
            <a:xfrm>
              <a:off x="865440" y="31597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…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" name="Google Shape;267;p37"/>
            <p:cNvSpPr/>
            <p:nvPr/>
          </p:nvSpPr>
          <p:spPr>
            <a:xfrm>
              <a:off x="865440" y="355320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another_bob: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4" name="Google Shape;268;p37"/>
            <p:cNvSpPr/>
            <p:nvPr/>
          </p:nvSpPr>
          <p:spPr>
            <a:xfrm>
              <a:off x="865440" y="39470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another_bob.name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5" name="Google Shape;269;p37"/>
            <p:cNvSpPr/>
            <p:nvPr/>
          </p:nvSpPr>
          <p:spPr>
            <a:xfrm>
              <a:off x="865440" y="43405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&lt;another_bob stuff&gt;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" name="Google Shape;270;p37"/>
            <p:cNvSpPr/>
            <p:nvPr/>
          </p:nvSpPr>
          <p:spPr>
            <a:xfrm>
              <a:off x="3039120" y="1585440"/>
              <a:ext cx="1695960" cy="39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l" sz="1600" spc="-1" strike="noStrike">
                  <a:solidFill>
                    <a:schemeClr val="dk1"/>
                  </a:solidFill>
                  <a:latin typeface="Lato"/>
                  <a:ea typeface="Lato"/>
                </a:rPr>
                <a:t>What we have…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47" name="Google Shape;271;p37"/>
          <p:cNvGrpSpPr/>
          <p:nvPr/>
        </p:nvGrpSpPr>
        <p:grpSpPr>
          <a:xfrm>
            <a:off x="4942800" y="1585440"/>
            <a:ext cx="3827880" cy="3148200"/>
            <a:chOff x="4942800" y="1585440"/>
            <a:chExt cx="3827880" cy="3148200"/>
          </a:xfrm>
        </p:grpSpPr>
        <p:sp>
          <p:nvSpPr>
            <p:cNvPr id="248" name="Google Shape;272;p37"/>
            <p:cNvSpPr/>
            <p:nvPr/>
          </p:nvSpPr>
          <p:spPr>
            <a:xfrm>
              <a:off x="4942800" y="4340520"/>
              <a:ext cx="1695960" cy="39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l" sz="1600" spc="-1" strike="noStrike">
                  <a:solidFill>
                    <a:schemeClr val="accent3"/>
                  </a:solidFill>
                  <a:latin typeface="Lato"/>
                  <a:ea typeface="Lato"/>
                </a:rPr>
                <a:t>What we want…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9" name="Google Shape;273;p37"/>
            <p:cNvSpPr/>
            <p:nvPr/>
          </p:nvSpPr>
          <p:spPr>
            <a:xfrm>
              <a:off x="6673320" y="15854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bob: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" name="Google Shape;274;p37"/>
            <p:cNvSpPr/>
            <p:nvPr/>
          </p:nvSpPr>
          <p:spPr>
            <a:xfrm>
              <a:off x="6673320" y="19789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bob.name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1" name="Google Shape;275;p37"/>
            <p:cNvSpPr/>
            <p:nvPr/>
          </p:nvSpPr>
          <p:spPr>
            <a:xfrm>
              <a:off x="6673320" y="237240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bob.location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2" name="Google Shape;276;p37"/>
            <p:cNvSpPr/>
            <p:nvPr/>
          </p:nvSpPr>
          <p:spPr>
            <a:xfrm>
              <a:off x="6673320" y="27662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&lt;other bob stuff&gt;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3" name="Google Shape;277;p37"/>
            <p:cNvSpPr/>
            <p:nvPr/>
          </p:nvSpPr>
          <p:spPr>
            <a:xfrm>
              <a:off x="6673320" y="31597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…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4" name="Google Shape;278;p37"/>
            <p:cNvSpPr/>
            <p:nvPr/>
          </p:nvSpPr>
          <p:spPr>
            <a:xfrm>
              <a:off x="6673320" y="355320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another_bob: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5" name="Google Shape;279;p37"/>
            <p:cNvSpPr/>
            <p:nvPr/>
          </p:nvSpPr>
          <p:spPr>
            <a:xfrm>
              <a:off x="6673320" y="39470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I am the same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6" name="Google Shape;280;p37"/>
            <p:cNvSpPr/>
            <p:nvPr/>
          </p:nvSpPr>
          <p:spPr>
            <a:xfrm>
              <a:off x="6673320" y="43405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as bob!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57" name="Google Shape;281;p37"/>
            <p:cNvCxnSpPr>
              <a:stCxn id="254" idx="1"/>
              <a:endCxn id="249" idx="1"/>
            </p:cNvCxnSpPr>
            <p:nvPr/>
          </p:nvCxnSpPr>
          <p:spPr>
            <a:xfrm flipV="1">
              <a:off x="6673320" y="1782000"/>
              <a:ext cx="1080" cy="1968120"/>
            </a:xfrm>
            <a:prstGeom prst="curvedConnector2">
              <a:avLst/>
            </a:prstGeom>
            <a:ln w="19050">
              <a:solidFill>
                <a:srgbClr val="eb5600"/>
              </a:solidFill>
              <a:prstDash val="dash"/>
              <a:round/>
              <a:tailEnd len="med" type="stealth" w="med"/>
            </a:ln>
          </p:spPr>
        </p:cxnSp>
      </p:grpSp>
      <p:sp>
        <p:nvSpPr>
          <p:cNvPr id="258" name="Google Shape;282;p37"/>
          <p:cNvSpPr/>
          <p:nvPr/>
        </p:nvSpPr>
        <p:spPr>
          <a:xfrm>
            <a:off x="3412800" y="2173680"/>
            <a:ext cx="2201040" cy="1576080"/>
          </a:xfrm>
          <a:prstGeom prst="rect">
            <a:avLst/>
          </a:prstGeom>
          <a:solidFill>
            <a:srgbClr val="fce5cd"/>
          </a:solidFill>
          <a:ln w="19050">
            <a:solidFill>
              <a:srgbClr val="eb56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another_bob</a:t>
            </a: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 is just a different object living somewhere else in memory. For python objects, 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a == b</a:t>
            </a: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 </a:t>
            </a:r>
            <a:r>
              <a:rPr b="1" lang="el" sz="1300" spc="-1" strike="noStrike">
                <a:solidFill>
                  <a:schemeClr val="accent3"/>
                </a:solidFill>
                <a:latin typeface="Lato"/>
                <a:ea typeface="Lato"/>
              </a:rPr>
              <a:t>just compares memory locations</a:t>
            </a: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, so it yields </a:t>
            </a:r>
            <a:r>
              <a:rPr b="1" lang="el" sz="1300" spc="-1" strike="noStrike">
                <a:solidFill>
                  <a:schemeClr val="accent3"/>
                </a:solidFill>
                <a:latin typeface="Consolas"/>
                <a:ea typeface="Consolas"/>
              </a:rPr>
              <a:t>False</a:t>
            </a: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!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489" dur="indefinite" restart="never" nodeType="tmRoot">
          <p:childTnLst>
            <p:seq>
              <p:cTn id="490" dur="indefinite" nodeType="mainSeq">
                <p:childTnLst>
                  <p:par>
                    <p:cTn id="491" fill="hold">
                      <p:stCondLst>
                        <p:cond delay="indefinite"/>
                      </p:stCondLst>
                      <p:childTnLst>
                        <p:par>
                          <p:cTn id="492" fill="hold">
                            <p:stCondLst>
                              <p:cond delay="0"/>
                            </p:stCondLst>
                            <p:childTnLst>
                              <p:par>
                                <p:cTn id="49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5" fill="hold">
                      <p:stCondLst>
                        <p:cond delay="indefinite"/>
                      </p:stCondLst>
                      <p:childTnLst>
                        <p:par>
                          <p:cTn id="496" fill="hold">
                            <p:stCondLst>
                              <p:cond delay="0"/>
                            </p:stCondLst>
                            <p:childTnLst>
                              <p:par>
                                <p:cTn id="49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9" fill="hold">
                      <p:stCondLst>
                        <p:cond delay="indefinite"/>
                      </p:stCondLst>
                      <p:childTnLst>
                        <p:par>
                          <p:cTn id="500" fill="hold">
                            <p:stCondLst>
                              <p:cond delay="0"/>
                            </p:stCondLst>
                            <p:childTnLst>
                              <p:par>
                                <p:cTn id="50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Python Magic Functions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Python classes offer what is known as magic functions.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Look around the web to find out what they are.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[waiting for you to find out what they are]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So, which function can help us make bob and another_bob the same?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There is a popular magic function,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__eq__()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, which determines when two objects are the same.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595959"/>
              </a:buClr>
              <a:buFont typeface="Lato"/>
              <a:buChar char="●"/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Try to use it to overwrite the default behaviour of 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==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 with python objects.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sldNum" idx="26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F83AAA-331E-4541-850B-A3AC129A7155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23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03" dur="indefinite" restart="never" nodeType="tmRoot">
          <p:childTnLst>
            <p:seq>
              <p:cTn id="504" dur="indefinite" nodeType="mainSeq">
                <p:childTnLst>
                  <p:par>
                    <p:cTn id="505" fill="hold">
                      <p:stCondLst>
                        <p:cond delay="indefinite"/>
                      </p:stCondLst>
                      <p:childTnLst>
                        <p:par>
                          <p:cTn id="506" fill="hold">
                            <p:stCondLst>
                              <p:cond delay="0"/>
                            </p:stCondLst>
                            <p:childTnLst>
                              <p:par>
                                <p:cTn id="50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9" fill="hold">
                      <p:stCondLst>
                        <p:cond delay="indefinite"/>
                      </p:stCondLst>
                      <p:childTnLst>
                        <p:par>
                          <p:cTn id="510" fill="hold">
                            <p:stCondLst>
                              <p:cond delay="0"/>
                            </p:stCondLst>
                            <p:childTnLst>
                              <p:par>
                                <p:cTn id="51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3" fill="hold">
                      <p:stCondLst>
                        <p:cond delay="indefinite"/>
                      </p:stCondLst>
                      <p:childTnLst>
                        <p:par>
                          <p:cTn id="514" fill="hold">
                            <p:stCondLst>
                              <p:cond delay="0"/>
                            </p:stCondLst>
                            <p:childTnLst>
                              <p:par>
                                <p:cTn id="515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7" fill="hold">
                      <p:stCondLst>
                        <p:cond delay="indefinite"/>
                      </p:stCondLst>
                      <p:childTnLst>
                        <p:par>
                          <p:cTn id="518" fill="hold">
                            <p:stCondLst>
                              <p:cond delay="0"/>
                            </p:stCondLst>
                            <p:childTnLst>
                              <p:par>
                                <p:cTn id="519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1" fill="hold">
                      <p:stCondLst>
                        <p:cond delay="indefinite"/>
                      </p:stCondLst>
                      <p:childTnLst>
                        <p:par>
                          <p:cTn id="522" fill="hold">
                            <p:stCondLst>
                              <p:cond delay="0"/>
                            </p:stCondLst>
                            <p:childTnLst>
                              <p:par>
                                <p:cTn id="52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5" fill="hold">
                      <p:stCondLst>
                        <p:cond delay="indefinite"/>
                      </p:stCondLst>
                      <p:childTnLst>
                        <p:par>
                          <p:cTn id="526" fill="hold">
                            <p:stCondLst>
                              <p:cond delay="0"/>
                            </p:stCondLst>
                            <p:childTnLst>
                              <p:par>
                                <p:cTn id="52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Class-ic Fun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sldNum" idx="27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767E3E-A76F-4930-B20A-CA7F880D87D1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24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264" name="Google Shape;296;p39"/>
          <p:cNvGrpSpPr/>
          <p:nvPr/>
        </p:nvGrpSpPr>
        <p:grpSpPr>
          <a:xfrm>
            <a:off x="865440" y="1578600"/>
            <a:ext cx="4298760" cy="3155040"/>
            <a:chOff x="865440" y="1578600"/>
            <a:chExt cx="4298760" cy="3155040"/>
          </a:xfrm>
        </p:grpSpPr>
        <p:sp>
          <p:nvSpPr>
            <p:cNvPr id="265" name="Google Shape;297;p39"/>
            <p:cNvSpPr/>
            <p:nvPr/>
          </p:nvSpPr>
          <p:spPr>
            <a:xfrm>
              <a:off x="865440" y="15854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bob: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6" name="Google Shape;298;p39"/>
            <p:cNvSpPr/>
            <p:nvPr/>
          </p:nvSpPr>
          <p:spPr>
            <a:xfrm>
              <a:off x="865440" y="19789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bob.name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7" name="Google Shape;299;p39"/>
            <p:cNvSpPr/>
            <p:nvPr/>
          </p:nvSpPr>
          <p:spPr>
            <a:xfrm>
              <a:off x="865440" y="237240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bob.location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8" name="Google Shape;300;p39"/>
            <p:cNvSpPr/>
            <p:nvPr/>
          </p:nvSpPr>
          <p:spPr>
            <a:xfrm>
              <a:off x="865440" y="27662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&lt;other bob stuff&gt;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9" name="Google Shape;301;p39"/>
            <p:cNvSpPr/>
            <p:nvPr/>
          </p:nvSpPr>
          <p:spPr>
            <a:xfrm>
              <a:off x="865440" y="31597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…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0" name="Google Shape;302;p39"/>
            <p:cNvSpPr/>
            <p:nvPr/>
          </p:nvSpPr>
          <p:spPr>
            <a:xfrm>
              <a:off x="865440" y="355320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charlie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" name="Google Shape;303;p39"/>
            <p:cNvSpPr/>
            <p:nvPr/>
          </p:nvSpPr>
          <p:spPr>
            <a:xfrm>
              <a:off x="865440" y="39470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point to bob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2" name="Google Shape;304;p39"/>
            <p:cNvSpPr/>
            <p:nvPr/>
          </p:nvSpPr>
          <p:spPr>
            <a:xfrm>
              <a:off x="865440" y="43405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73" name="Google Shape;305;p39"/>
            <p:cNvCxnSpPr>
              <a:stCxn id="271" idx="3"/>
              <a:endCxn id="265" idx="3"/>
            </p:cNvCxnSpPr>
            <p:nvPr/>
          </p:nvCxnSpPr>
          <p:spPr>
            <a:xfrm flipV="1">
              <a:off x="2962800" y="1782000"/>
              <a:ext cx="1080" cy="2361960"/>
            </a:xfrm>
            <a:prstGeom prst="curvedConnector2">
              <a:avLst/>
            </a:prstGeom>
            <a:ln w="19050">
              <a:solidFill>
                <a:srgbClr val="1a9988"/>
              </a:solidFill>
              <a:prstDash val="dash"/>
              <a:round/>
              <a:tailEnd len="med" type="stealth" w="med"/>
            </a:ln>
          </p:spPr>
        </p:cxnSp>
        <p:sp>
          <p:nvSpPr>
            <p:cNvPr id="274" name="Google Shape;306;p39"/>
            <p:cNvSpPr/>
            <p:nvPr/>
          </p:nvSpPr>
          <p:spPr>
            <a:xfrm>
              <a:off x="3468240" y="1578600"/>
              <a:ext cx="1695960" cy="39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l" sz="1600" spc="-1" strike="noStrike">
                  <a:solidFill>
                    <a:schemeClr val="dk1"/>
                  </a:solidFill>
                  <a:latin typeface="Lato"/>
                  <a:ea typeface="Lato"/>
                </a:rPr>
                <a:t>What we have…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5" name="Google Shape;307;p39"/>
          <p:cNvGrpSpPr/>
          <p:nvPr/>
        </p:nvGrpSpPr>
        <p:grpSpPr>
          <a:xfrm>
            <a:off x="4783320" y="1585440"/>
            <a:ext cx="3987360" cy="3148200"/>
            <a:chOff x="4783320" y="1585440"/>
            <a:chExt cx="3987360" cy="3148200"/>
          </a:xfrm>
        </p:grpSpPr>
        <p:sp>
          <p:nvSpPr>
            <p:cNvPr id="276" name="Google Shape;308;p39"/>
            <p:cNvSpPr/>
            <p:nvPr/>
          </p:nvSpPr>
          <p:spPr>
            <a:xfrm>
              <a:off x="4783320" y="4340520"/>
              <a:ext cx="1695960" cy="393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1" lang="el" sz="1600" spc="-1" strike="noStrike">
                  <a:solidFill>
                    <a:schemeClr val="accent3"/>
                  </a:solidFill>
                  <a:latin typeface="Lato"/>
                  <a:ea typeface="Lato"/>
                </a:rPr>
                <a:t>What we want…</a:t>
              </a:r>
              <a:endParaRPr b="0" lang="en-US" sz="16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7" name="Google Shape;309;p39"/>
            <p:cNvSpPr/>
            <p:nvPr/>
          </p:nvSpPr>
          <p:spPr>
            <a:xfrm>
              <a:off x="6673320" y="15854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bob: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8" name="Google Shape;310;p39"/>
            <p:cNvSpPr/>
            <p:nvPr/>
          </p:nvSpPr>
          <p:spPr>
            <a:xfrm>
              <a:off x="6673320" y="19789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bob.name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9" name="Google Shape;311;p39"/>
            <p:cNvSpPr/>
            <p:nvPr/>
          </p:nvSpPr>
          <p:spPr>
            <a:xfrm>
              <a:off x="6673320" y="237240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bob.location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0" name="Google Shape;312;p39"/>
            <p:cNvSpPr/>
            <p:nvPr/>
          </p:nvSpPr>
          <p:spPr>
            <a:xfrm>
              <a:off x="6673320" y="27662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&lt;other bob stuff&gt;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" name="Google Shape;313;p39"/>
            <p:cNvSpPr/>
            <p:nvPr/>
          </p:nvSpPr>
          <p:spPr>
            <a:xfrm>
              <a:off x="6673320" y="31597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…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2" name="Google Shape;314;p39"/>
            <p:cNvSpPr/>
            <p:nvPr/>
          </p:nvSpPr>
          <p:spPr>
            <a:xfrm>
              <a:off x="6673320" y="355320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charlie: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" name="Google Shape;315;p39"/>
            <p:cNvSpPr/>
            <p:nvPr/>
          </p:nvSpPr>
          <p:spPr>
            <a:xfrm>
              <a:off x="6673320" y="394704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algn="ctr"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4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charlie.name</a:t>
              </a: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4" name="Google Shape;316;p39"/>
            <p:cNvSpPr/>
            <p:nvPr/>
          </p:nvSpPr>
          <p:spPr>
            <a:xfrm>
              <a:off x="6673320" y="4340520"/>
              <a:ext cx="2097360" cy="393120"/>
            </a:xfrm>
            <a:prstGeom prst="rect">
              <a:avLst/>
            </a:prstGeom>
            <a:solidFill>
              <a:schemeClr val="lt2"/>
            </a:solidFill>
            <a:ln w="9525">
              <a:solidFill>
                <a:srgbClr val="1a1a1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r>
                <a:rPr b="0" lang="el" sz="1300" spc="-1" strike="noStrike">
                  <a:solidFill>
                    <a:srgbClr val="000000"/>
                  </a:solidFill>
                  <a:latin typeface="Consolas"/>
                  <a:ea typeface="Consolas"/>
                </a:rPr>
                <a:t>&lt;other charlie stuff&gt;</a:t>
              </a:r>
              <a:endParaRPr b="0" lang="en-US" sz="1300" spc="-1" strike="noStrike">
                <a:solidFill>
                  <a:srgbClr val="000000"/>
                </a:solidFill>
                <a:latin typeface="Arial"/>
              </a:endParaRPr>
            </a:p>
          </p:txBody>
        </p:sp>
        <p:cxnSp>
          <p:nvCxnSpPr>
            <p:cNvPr id="285" name="Google Shape;317;p39"/>
            <p:cNvCxnSpPr>
              <a:stCxn id="282" idx="1"/>
              <a:endCxn id="277" idx="1"/>
            </p:cNvCxnSpPr>
            <p:nvPr/>
          </p:nvCxnSpPr>
          <p:spPr>
            <a:xfrm flipV="1">
              <a:off x="6673320" y="1782000"/>
              <a:ext cx="1080" cy="1968120"/>
            </a:xfrm>
            <a:prstGeom prst="curvedConnector2">
              <a:avLst/>
            </a:prstGeom>
            <a:ln w="19050">
              <a:solidFill>
                <a:srgbClr val="eb5600"/>
              </a:solidFill>
              <a:prstDash val="dash"/>
              <a:round/>
              <a:headEnd len="med" type="stealth" w="med"/>
              <a:tailEnd len="med" type="stealth" w="med"/>
            </a:ln>
          </p:spPr>
        </p:cxnSp>
        <p:grpSp>
          <p:nvGrpSpPr>
            <p:cNvPr id="286" name="Google Shape;318;p39"/>
            <p:cNvGrpSpPr/>
            <p:nvPr/>
          </p:nvGrpSpPr>
          <p:grpSpPr>
            <a:xfrm>
              <a:off x="5891040" y="2624040"/>
              <a:ext cx="325440" cy="283680"/>
              <a:chOff x="5891040" y="2624040"/>
              <a:chExt cx="325440" cy="283680"/>
            </a:xfrm>
          </p:grpSpPr>
          <p:cxnSp>
            <p:nvCxnSpPr>
              <p:cNvPr id="287" name="Google Shape;319;p39"/>
              <p:cNvCxnSpPr/>
              <p:nvPr/>
            </p:nvCxnSpPr>
            <p:spPr>
              <a:xfrm>
                <a:off x="5891040" y="2624040"/>
                <a:ext cx="325800" cy="284040"/>
              </a:xfrm>
              <a:prstGeom prst="straightConnector1">
                <a:avLst/>
              </a:prstGeom>
              <a:ln w="38100">
                <a:solidFill>
                  <a:srgbClr val="eb5600"/>
                </a:solidFill>
                <a:round/>
              </a:ln>
            </p:spPr>
          </p:cxnSp>
          <p:cxnSp>
            <p:nvCxnSpPr>
              <p:cNvPr id="288" name="Google Shape;320;p39"/>
              <p:cNvCxnSpPr/>
              <p:nvPr/>
            </p:nvCxnSpPr>
            <p:spPr>
              <a:xfrm flipH="1">
                <a:off x="5891040" y="2624040"/>
                <a:ext cx="325800" cy="284040"/>
              </a:xfrm>
              <a:prstGeom prst="straightConnector1">
                <a:avLst/>
              </a:prstGeom>
              <a:ln w="38100">
                <a:solidFill>
                  <a:srgbClr val="eb5600"/>
                </a:solidFill>
                <a:round/>
              </a:ln>
            </p:spPr>
          </p:cxnSp>
        </p:grpSp>
      </p:grpSp>
      <p:sp>
        <p:nvSpPr>
          <p:cNvPr id="289" name="Google Shape;321;p39"/>
          <p:cNvSpPr/>
          <p:nvPr/>
        </p:nvSpPr>
        <p:spPr>
          <a:xfrm>
            <a:off x="4139640" y="2173680"/>
            <a:ext cx="1474200" cy="1536480"/>
          </a:xfrm>
          <a:prstGeom prst="rect">
            <a:avLst/>
          </a:prstGeom>
          <a:solidFill>
            <a:srgbClr val="fce5cd"/>
          </a:solidFill>
          <a:ln w="19050">
            <a:solidFill>
              <a:srgbClr val="eb560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charlie = bob</a:t>
            </a: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 just </a:t>
            </a:r>
            <a:r>
              <a:rPr b="1" lang="el" sz="1300" spc="-1" strike="noStrike">
                <a:solidFill>
                  <a:schemeClr val="accent3"/>
                </a:solidFill>
                <a:latin typeface="Lato"/>
                <a:ea typeface="Lato"/>
              </a:rPr>
              <a:t>creates a reference</a:t>
            </a: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 from 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charlie</a:t>
            </a: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 to </a:t>
            </a:r>
            <a:r>
              <a:rPr b="0" lang="el" sz="1300" spc="-1" strike="noStrike">
                <a:solidFill>
                  <a:schemeClr val="accent1"/>
                </a:solidFill>
                <a:latin typeface="Consolas"/>
                <a:ea typeface="Consolas"/>
              </a:rPr>
              <a:t>bob</a:t>
            </a:r>
            <a:r>
              <a:rPr b="0" lang="el" sz="1300" spc="-1" strike="noStrike">
                <a:solidFill>
                  <a:schemeClr val="accent1"/>
                </a:solidFill>
                <a:latin typeface="Lato"/>
                <a:ea typeface="Lato"/>
              </a:rPr>
              <a:t>, so any change on either is reflected on both!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529" dur="indefinite" restart="never" nodeType="tmRoot">
          <p:childTnLst>
            <p:seq>
              <p:cTn id="530" dur="indefinite" nodeType="mainSeq">
                <p:childTnLst>
                  <p:par>
                    <p:cTn id="531" fill="hold">
                      <p:stCondLst>
                        <p:cond delay="indefinite"/>
                      </p:stCondLst>
                      <p:childTnLst>
                        <p:par>
                          <p:cTn id="532" fill="hold">
                            <p:stCondLst>
                              <p:cond delay="0"/>
                            </p:stCondLst>
                            <p:childTnLst>
                              <p:par>
                                <p:cTn id="533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5" fill="hold">
                      <p:stCondLst>
                        <p:cond delay="indefinite"/>
                      </p:stCondLst>
                      <p:childTnLst>
                        <p:par>
                          <p:cTn id="536" fill="hold">
                            <p:stCondLst>
                              <p:cond delay="0"/>
                            </p:stCondLst>
                            <p:childTnLst>
                              <p:par>
                                <p:cTn id="537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9" fill="hold">
                      <p:stCondLst>
                        <p:cond delay="indefinite"/>
                      </p:stCondLst>
                      <p:childTnLst>
                        <p:par>
                          <p:cTn id="540" fill="hold">
                            <p:stCondLst>
                              <p:cond delay="0"/>
                            </p:stCondLst>
                            <p:childTnLst>
                              <p:par>
                                <p:cTn id="541" nodeType="clickEffect" fill="hold" presetClass="entr" presetID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Homework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This is a self-study exercise on python classes. You have to follow the tutorial found below: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https://realpython.com/python-classes/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Observe all code found there and try it yourself (i.e., copy-paste it and run it locally). This will give you a really in depth starter on python classes.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Contact me for any questions at: v.markos@mc-class.gr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28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3AE70A6-477A-436C-90FB-59BAD08BD08C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729360" y="1322280"/>
            <a:ext cx="7688160" cy="1518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3600" spc="-1" strike="noStrike">
                <a:solidFill>
                  <a:schemeClr val="lt1"/>
                </a:solidFill>
                <a:latin typeface="Lato"/>
                <a:ea typeface="Lato"/>
              </a:rPr>
              <a:t>Fun Time!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2"/>
          <p:cNvSpPr>
            <a:spLocks noGrp="1"/>
          </p:cNvSpPr>
          <p:nvPr>
            <p:ph type="sldNum" idx="29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2745750-5EE1-452D-97C9-FA6F21D9828B}" type="slidenum">
              <a:rPr b="0" lang="el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729360" y="572040"/>
            <a:ext cx="7688520" cy="534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88000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Time for revision!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729360" y="1378080"/>
            <a:ext cx="7688520" cy="29617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Start working on the exercises found in the ‘</a:t>
            </a:r>
            <a:r>
              <a:rPr b="0" lang="el" sz="1600" spc="-1" strike="noStrike">
                <a:solidFill>
                  <a:schemeClr val="accent1"/>
                </a:solidFill>
                <a:latin typeface="Consolas"/>
                <a:ea typeface="Consolas"/>
              </a:rPr>
              <a:t>source/portfolio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’ directory.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You can use any resources you want </a:t>
            </a:r>
            <a:r>
              <a:rPr b="1" lang="el" sz="1600" spc="-1" strike="noStrike">
                <a:solidFill>
                  <a:schemeClr val="accent3"/>
                </a:solidFill>
                <a:latin typeface="Lato"/>
                <a:ea typeface="Lato"/>
              </a:rPr>
              <a:t>wisely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!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Submit all your work on this Google Form once you are done (soft deadline: </a:t>
            </a:r>
            <a:r>
              <a:rPr b="1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Friday, 20/12/2024</a:t>
            </a: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Lato"/>
                <a:ea typeface="Lato"/>
                <a:hlinkClick r:id="rId1"/>
              </a:rPr>
              <a:t>https://forms.gle/LSiNr4Rx5LNxUfjVA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30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3542D0C-5890-429E-9C6C-C5691FB04FD8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730080" y="1318680"/>
            <a:ext cx="3300480" cy="1686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l" sz="2600" spc="-1" strike="noStrike">
                <a:solidFill>
                  <a:schemeClr val="dk2"/>
                </a:solidFill>
                <a:latin typeface="Lato"/>
                <a:ea typeface="Lato"/>
              </a:rPr>
              <a:t>Any Questions?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subTitle"/>
          </p:nvPr>
        </p:nvSpPr>
        <p:spPr>
          <a:xfrm>
            <a:off x="725040" y="3161520"/>
            <a:ext cx="3300480" cy="758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l" sz="1600" spc="-1" strike="noStrike">
                <a:solidFill>
                  <a:schemeClr val="accent1"/>
                </a:solidFill>
                <a:latin typeface="Lato"/>
                <a:ea typeface="Lato"/>
              </a:rPr>
              <a:t>Don’t forget to fill-in the questionnaire! (check right)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/>
          </p:nvPr>
        </p:nvSpPr>
        <p:spPr>
          <a:xfrm>
            <a:off x="4707360" y="3983400"/>
            <a:ext cx="4361040" cy="398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 algn="ctr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l" sz="1600" spc="-1" strike="noStrike" u="sng">
                <a:solidFill>
                  <a:schemeClr val="hlink"/>
                </a:solidFill>
                <a:uFillTx/>
                <a:latin typeface="Consolas"/>
                <a:ea typeface="Consolas"/>
                <a:hlinkClick r:id="rId1"/>
              </a:rPr>
              <a:t>https://forms.gle/zezKMVzhaT4xyJgk8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1" name="Google Shape;349;p43" descr="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5459400" y="1063080"/>
            <a:ext cx="2857320" cy="2857320"/>
          </a:xfrm>
          <a:prstGeom prst="rect">
            <a:avLst/>
          </a:prstGeom>
          <a:ln w="0">
            <a:noFill/>
          </a:ln>
        </p:spPr>
      </p:pic>
      <p:sp>
        <p:nvSpPr>
          <p:cNvPr id="302" name="PlaceHolder 4"/>
          <p:cNvSpPr>
            <a:spLocks noGrp="1"/>
          </p:cNvSpPr>
          <p:nvPr>
            <p:ph type="sldNum" idx="31"/>
          </p:nvPr>
        </p:nvSpPr>
        <p:spPr>
          <a:xfrm>
            <a:off x="853632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l" sz="1000" spc="-1" strike="noStrike">
                <a:solidFill>
                  <a:schemeClr val="accen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F58524B-DFB8-4BCE-9E57-E54DCE40DDF7}" type="slidenum">
              <a:rPr b="0" lang="el" sz="1000" spc="-1" strike="noStrike">
                <a:solidFill>
                  <a:schemeClr val="accen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2025-12-09T10:08:25Z</dcterms:modified>
  <cp:revision>1</cp:revision>
  <dc:subject/>
  <dc:title/>
</cp:coreProperties>
</file>